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عرض تقني بحت: كيف بُني التطبيق، وبأي أدوات، وما الذي يعمل فعلياً اليوم.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651760" y="1051560"/>
            <a:ext cx="6858000" cy="4754880"/>
          </a:xfrm>
          <a:prstGeom prst="roundRect">
            <a:avLst>
              <a:gd name="adj" fmla="val 5769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513832" y="1371600"/>
            <a:ext cx="1188720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51760" y="269748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التقنية خلف شمال AI</a:t>
            </a:r>
            <a:endParaRPr lang="ar-SA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3474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F6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البنية، الأدوات، والمحرك الذي يبني الرحلة</a:t>
            </a:r>
            <a:endParaRPr lang="ar-SA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4023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ويب بتصميم جوال · عربي بالكامل · منشور ويعمل</a:t>
            </a:r>
            <a:endParaRPr lang="ar-SA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4434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ENBTHON 2026 · منطقة الحدود الشمالية</a:t>
            </a:r>
            <a:endParaRPr lang="ar-SA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502920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1F6A68"/>
          </a:solidFill>
          <a:ln w="12700">
            <a:solidFill>
              <a:srgbClr val="1F6A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5029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المعمارية في صورة واحدة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طبقات فقط، كلها داخل مشروع واحد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9226296" y="1874520"/>
            <a:ext cx="2377440" cy="1554480"/>
          </a:xfrm>
          <a:prstGeom prst="roundRect">
            <a:avLst>
              <a:gd name="adj" fmla="val 10588"/>
            </a:avLst>
          </a:prstGeom>
          <a:solidFill>
            <a:srgbClr val="E4EDF5"/>
          </a:solidFill>
          <a:ln w="9525">
            <a:solidFill>
              <a:srgbClr val="E4EDF5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363456" y="2103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المتصفح / الجوال</a:t>
            </a:r>
            <a:endParaRPr lang="ar-SA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363456" y="258775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React</a:t>
            </a:r>
            <a:endParaRPr lang="ar-SA" sz="11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إدخال صوتي بالعربية</a:t>
            </a:r>
            <a:endParaRPr lang="ar-SA" sz="1100" dirty="0"/>
          </a:p>
        </p:txBody>
      </p:sp>
      <p:sp>
        <p:nvSpPr>
          <p:cNvPr id="7" name="Shape 5"/>
          <p:cNvSpPr/>
          <p:nvPr/>
        </p:nvSpPr>
        <p:spPr>
          <a:xfrm>
            <a:off x="8778240" y="2651760"/>
            <a:ext cx="448056" cy="0"/>
          </a:xfrm>
          <a:prstGeom prst="line">
            <a:avLst/>
          </a:prstGeom>
          <a:noFill/>
          <a:ln w="25400">
            <a:solidFill>
              <a:srgbClr val="1F6A68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345936" y="1874520"/>
            <a:ext cx="2377440" cy="1554480"/>
          </a:xfrm>
          <a:prstGeom prst="roundRect">
            <a:avLst>
              <a:gd name="adj" fmla="val 10588"/>
            </a:avLst>
          </a:prstGeom>
          <a:solidFill>
            <a:srgbClr val="E4F0EA"/>
          </a:solidFill>
          <a:ln w="9525">
            <a:solidFill>
              <a:srgbClr val="E4F0EA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83096" y="2103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على Vercel</a:t>
            </a:r>
            <a:endParaRPr lang="ar-SA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58775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الصفحات + مسارات API</a:t>
            </a:r>
            <a:endParaRPr lang="ar-SA" sz="11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تصيير على الخادم</a:t>
            </a:r>
            <a:endParaRPr lang="ar-SA" sz="1100" dirty="0"/>
          </a:p>
        </p:txBody>
      </p:sp>
      <p:sp>
        <p:nvSpPr>
          <p:cNvPr id="11" name="Shape 9"/>
          <p:cNvSpPr/>
          <p:nvPr/>
        </p:nvSpPr>
        <p:spPr>
          <a:xfrm>
            <a:off x="5897880" y="2651760"/>
            <a:ext cx="448056" cy="0"/>
          </a:xfrm>
          <a:prstGeom prst="line">
            <a:avLst/>
          </a:prstGeom>
          <a:noFill/>
          <a:ln w="25400">
            <a:solidFill>
              <a:srgbClr val="1F6A68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3465576" y="1874520"/>
            <a:ext cx="2377440" cy="1554480"/>
          </a:xfrm>
          <a:prstGeom prst="roundRect">
            <a:avLst>
              <a:gd name="adj" fmla="val 10588"/>
            </a:avLst>
          </a:prstGeom>
          <a:solidFill>
            <a:srgbClr val="EBE7F4"/>
          </a:solidFill>
          <a:ln w="9525">
            <a:solidFill>
              <a:srgbClr val="EBE7F4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02736" y="2103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الرحلة</a:t>
            </a:r>
            <a:endParaRPr lang="ar-SA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2736" y="258775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والجاهزية</a:t>
            </a:r>
            <a:endParaRPr lang="ar-SA" sz="11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والعوائق (داخل التطبيق)</a:t>
            </a:r>
            <a:endParaRPr lang="ar-SA" sz="1100" dirty="0"/>
          </a:p>
        </p:txBody>
      </p:sp>
      <p:sp>
        <p:nvSpPr>
          <p:cNvPr id="15" name="Shape 13"/>
          <p:cNvSpPr/>
          <p:nvPr/>
        </p:nvSpPr>
        <p:spPr>
          <a:xfrm>
            <a:off x="3017520" y="2651760"/>
            <a:ext cx="448056" cy="0"/>
          </a:xfrm>
          <a:prstGeom prst="line">
            <a:avLst/>
          </a:prstGeom>
          <a:noFill/>
          <a:ln w="25400">
            <a:solidFill>
              <a:srgbClr val="1F6A68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585216" y="1874520"/>
            <a:ext cx="2377440" cy="1554480"/>
          </a:xfrm>
          <a:prstGeom prst="roundRect">
            <a:avLst>
              <a:gd name="adj" fmla="val 10588"/>
            </a:avLst>
          </a:prstGeom>
          <a:solidFill>
            <a:srgbClr val="F4EEE3"/>
          </a:solidFill>
          <a:ln w="9525">
            <a:solidFill>
              <a:srgbClr val="F4EEE3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22376" y="2103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Neon Postgres</a:t>
            </a:r>
            <a:endParaRPr lang="ar-SA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" y="258775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الحسابات والرحلات</a:t>
            </a:r>
            <a:endParaRPr lang="ar-SA" sz="11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والإشعارات</a:t>
            </a:r>
            <a:endParaRPr lang="ar-SA" sz="1100" dirty="0"/>
          </a:p>
        </p:txBody>
      </p:sp>
      <p:sp>
        <p:nvSpPr>
          <p:cNvPr id="19" name="Shape 17"/>
          <p:cNvSpPr/>
          <p:nvPr/>
        </p:nvSpPr>
        <p:spPr>
          <a:xfrm>
            <a:off x="6231636" y="3977640"/>
            <a:ext cx="5408676" cy="146304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05956" y="4178808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قاعدة المعرفة</a:t>
            </a:r>
            <a:endParaRPr lang="ar-SA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599432"/>
            <a:ext cx="48600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ملفات TypeScript ثابتة: 23 خدمة و17 سيناريو و19 جهة، تُحمَّل مع التطبيق بلا استعلامات خارجية</a:t>
            </a:r>
            <a:endParaRPr lang="ar-SA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5408676" cy="1463040"/>
          </a:xfrm>
          <a:prstGeom prst="roundRect">
            <a:avLst>
              <a:gd name="adj" fmla="val 11250"/>
            </a:avLst>
          </a:prstGeom>
          <a:solidFill>
            <a:srgbClr val="FBF3E0"/>
          </a:solidFill>
          <a:ln w="9525">
            <a:solidFill>
              <a:srgbClr val="E8D9B5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2960" y="4178808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8A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 طبقة النموذج اللغوي (اختيارية)</a:t>
            </a:r>
            <a:endParaRPr lang="ar-SA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599432"/>
            <a:ext cx="48600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موحّدة لأربعة مزودات، تُفعَّل بمتغير بيئة واحد. الحالة اليوم: غير مربوطة، والفهم يعمل بالقواعد</a:t>
            </a:r>
            <a:endParaRPr lang="ar-SA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15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شيء في مستودع واحد وتطبيق واحد: لا خوادم منفصلة، ولا خدمات خارجية إلزامية.</a:t>
            </a:r>
            <a:endParaRPr lang="ar-SA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068312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 · التقنية · 2</a:t>
            </a:r>
            <a:endParaRPr lang="ar-SA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الواجهة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أدوات مفتوحة المصدر، قياسية، ومدعومة عالمياً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231636" y="1645920"/>
            <a:ext cx="540867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88752" y="1901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4EDF5"/>
          </a:solidFill>
          <a:ln w="12700">
            <a:solidFill>
              <a:srgbClr val="E4ED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05956" y="1965960"/>
            <a:ext cx="4128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</a:t>
            </a:r>
            <a:endParaRPr lang="ar-SA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505956" y="2606040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إطار العمل: يبني الصفحات، ويشغّل مسارات الخادم للدخول والبيانات، وينشر على Vercel بأمر واحد</a:t>
            </a:r>
            <a:endParaRPr lang="ar-SA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540867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05756" y="1901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4F0EA"/>
          </a:solidFill>
          <a:ln w="12700">
            <a:solidFill>
              <a:srgbClr val="E4F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1965960"/>
            <a:ext cx="4128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ar-SA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06040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بناء الشاشات التفاعلية: قائمة التحقق، مؤشر الجاهزية، خطوات الرحلة</a:t>
            </a:r>
            <a:endParaRPr lang="ar-SA" sz="1300" dirty="0"/>
          </a:p>
        </p:txBody>
      </p:sp>
      <p:sp>
        <p:nvSpPr>
          <p:cNvPr id="12" name="Shape 10"/>
          <p:cNvSpPr/>
          <p:nvPr/>
        </p:nvSpPr>
        <p:spPr>
          <a:xfrm>
            <a:off x="6231636" y="3977640"/>
            <a:ext cx="540867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588752" y="423367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BE7F4"/>
          </a:solidFill>
          <a:ln w="12700">
            <a:solidFill>
              <a:srgbClr val="EBE7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4297680"/>
            <a:ext cx="4128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ar-SA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4937760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أنواع صارمة لكل خدمة ومتطلب، فتُكتشف الأخطاء وقت الكتابة لا وقت العرض</a:t>
            </a:r>
            <a:endParaRPr lang="ar-SA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40867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05756" y="423367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4EEE3"/>
          </a:solidFill>
          <a:ln w="12700">
            <a:solidFill>
              <a:srgbClr val="F4EE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97680"/>
            <a:ext cx="4128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 4</a:t>
            </a:r>
            <a:endParaRPr lang="ar-SA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نظام تصميم بمتغيرات لون واحدة: الأخضر المزرق والبطاقات الدائرية وواجهة RTL</a:t>
            </a:r>
            <a:endParaRPr lang="ar-SA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068312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 · التقنية · 3</a:t>
            </a:r>
            <a:endParaRPr lang="ar-SA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الخادم والبيانات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استضافة واحدة، قاعدة بيانات واحدة، ومصادقة مبنية داخل التطبيق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245352" y="1645920"/>
            <a:ext cx="539496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97312" y="192024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E4EDF5"/>
          </a:solidFill>
          <a:ln w="12700">
            <a:solidFill>
              <a:srgbClr val="E4ED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19672" y="19933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ar-SA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519672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استضافة التطبيق ومسارات الخادم، نشر في أقل من دقيقة، ورابط عام يفتح من أي جهاز</a:t>
            </a:r>
            <a:endParaRPr lang="ar-SA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539496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192024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E4F0EA"/>
          </a:solidFill>
          <a:ln w="12700">
            <a:solidFill>
              <a:srgbClr val="E4F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19933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Neon Postgres</a:t>
            </a:r>
            <a:endParaRPr lang="ar-SA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بيانات Postgres بلا خادم، مربوطة من Vercel Storage، والجداول تُنشأ تلقائياً عند أول طلب</a:t>
            </a:r>
            <a:endParaRPr lang="ar-SA" sz="1300" dirty="0"/>
          </a:p>
        </p:txBody>
      </p:sp>
      <p:sp>
        <p:nvSpPr>
          <p:cNvPr id="12" name="Shape 10"/>
          <p:cNvSpPr/>
          <p:nvPr/>
        </p:nvSpPr>
        <p:spPr>
          <a:xfrm>
            <a:off x="9073134" y="3977640"/>
            <a:ext cx="2567178" cy="1600200"/>
          </a:xfrm>
          <a:prstGeom prst="roundRect">
            <a:avLst>
              <a:gd name="adj" fmla="val 10286"/>
            </a:avLst>
          </a:prstGeom>
          <a:solidFill>
            <a:srgbClr val="E3F0EF"/>
          </a:solidFill>
          <a:ln w="952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274302" y="4233672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</a:t>
            </a:r>
            <a:endParaRPr lang="ar-SA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274302" y="475488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كلمات المرور مُجزّأة ولا تُخزن كنص أبداً</a:t>
            </a:r>
            <a:endParaRPr lang="ar-SA" sz="1100" dirty="0"/>
          </a:p>
        </p:txBody>
      </p:sp>
      <p:sp>
        <p:nvSpPr>
          <p:cNvPr id="15" name="Shape 13"/>
          <p:cNvSpPr/>
          <p:nvPr/>
        </p:nvSpPr>
        <p:spPr>
          <a:xfrm>
            <a:off x="6231636" y="3977640"/>
            <a:ext cx="2567178" cy="1600200"/>
          </a:xfrm>
          <a:prstGeom prst="roundRect">
            <a:avLst>
              <a:gd name="adj" fmla="val 10286"/>
            </a:avLst>
          </a:prstGeom>
          <a:solidFill>
            <a:srgbClr val="E3F0EF"/>
          </a:solidFill>
          <a:ln w="952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32804" y="4233672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كوكي</a:t>
            </a:r>
            <a:endParaRPr lang="ar-SA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32804" y="475488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جلسة موقّعة، HttpOnly، صالحة 30 يوماً</a:t>
            </a:r>
            <a:endParaRPr lang="ar-SA" sz="1100" dirty="0"/>
          </a:p>
        </p:txBody>
      </p:sp>
      <p:sp>
        <p:nvSpPr>
          <p:cNvPr id="18" name="Shape 16"/>
          <p:cNvSpPr/>
          <p:nvPr/>
        </p:nvSpPr>
        <p:spPr>
          <a:xfrm>
            <a:off x="3390138" y="3977640"/>
            <a:ext cx="2567178" cy="1600200"/>
          </a:xfrm>
          <a:prstGeom prst="roundRect">
            <a:avLst>
              <a:gd name="adj" fmla="val 10286"/>
            </a:avLst>
          </a:prstGeom>
          <a:solidFill>
            <a:srgbClr val="E3F0EF"/>
          </a:solidFill>
          <a:ln w="952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591306" y="4233672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عزل لكل مستخدم</a:t>
            </a:r>
            <a:endParaRPr lang="ar-SA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91306" y="475488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استعلام مقيّد بمعرّف صاحب الجلسة</a:t>
            </a:r>
            <a:endParaRPr lang="ar-SA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2567178" cy="1600200"/>
          </a:xfrm>
          <a:prstGeom prst="roundRect">
            <a:avLst>
              <a:gd name="adj" fmla="val 10286"/>
            </a:avLst>
          </a:prstGeom>
          <a:solidFill>
            <a:srgbClr val="E3F0EF"/>
          </a:solidFill>
          <a:ln w="952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49808" y="4233672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مستندات</a:t>
            </a:r>
            <a:endParaRPr lang="ar-SA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75488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نرفع ولا نخزن أي وثيقة رسمية</a:t>
            </a:r>
            <a:endParaRPr lang="ar-SA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068312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 · التقنية · 4</a:t>
            </a:r>
            <a:endParaRPr lang="ar-SA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الرحلة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الجزء الأصلي في المشروع: منطق خالص بلا اعتماد خارجي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8125968" y="1645920"/>
            <a:ext cx="3514344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27080" y="1847088"/>
            <a:ext cx="457200" cy="457200"/>
          </a:xfrm>
          <a:prstGeom prst="ellipse">
            <a:avLst/>
          </a:prstGeom>
          <a:solidFill>
            <a:srgbClr val="1F6A68"/>
          </a:solidFill>
          <a:ln w="12700">
            <a:solidFill>
              <a:srgbClr val="1F6A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2708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354568" y="23774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ترتيب طوبولوجي</a:t>
            </a:r>
            <a:endParaRPr lang="ar-SA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354568" y="278892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يرتب خدمات السيناريو حسب تبعياتها، فلا تظهر رخصة البلدية قبل السجل التجاري</a:t>
            </a:r>
            <a:endParaRPr lang="ar-SA" sz="1100" dirty="0"/>
          </a:p>
        </p:txBody>
      </p:sp>
      <p:sp>
        <p:nvSpPr>
          <p:cNvPr id="9" name="Shape 7"/>
          <p:cNvSpPr/>
          <p:nvPr/>
        </p:nvSpPr>
        <p:spPr>
          <a:xfrm>
            <a:off x="4337304" y="1645920"/>
            <a:ext cx="3514344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8416" y="1847088"/>
            <a:ext cx="457200" cy="457200"/>
          </a:xfrm>
          <a:prstGeom prst="ellipse">
            <a:avLst/>
          </a:prstGeom>
          <a:solidFill>
            <a:srgbClr val="1F6A68"/>
          </a:solidFill>
          <a:ln w="12700">
            <a:solidFill>
              <a:srgbClr val="1F6A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8416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65904" y="23774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تحقق مركّبة</a:t>
            </a:r>
            <a:endParaRPr lang="ar-SA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65904" y="278892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يدمج متطلبات الخدمة مع الخطوات السابقة غير المكتملة في قائمة واحدة</a:t>
            </a:r>
            <a:endParaRPr lang="ar-SA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1645920"/>
            <a:ext cx="3514344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49752" y="1847088"/>
            <a:ext cx="457200" cy="457200"/>
          </a:xfrm>
          <a:prstGeom prst="ellipse">
            <a:avLst/>
          </a:prstGeom>
          <a:solidFill>
            <a:srgbClr val="1F6A68"/>
          </a:solidFill>
          <a:ln w="12700">
            <a:solidFill>
              <a:srgbClr val="1F6A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49752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23774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مؤشر الجاهزية</a:t>
            </a:r>
            <a:endParaRPr lang="ar-SA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278892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مئوية وثلاث حالات: أخضر جاهز، أصفر ناقص، أحمر خطوة سابقة لم تكتمل</a:t>
            </a:r>
            <a:endParaRPr lang="ar-SA" sz="1100" dirty="0"/>
          </a:p>
        </p:txBody>
      </p:sp>
      <p:sp>
        <p:nvSpPr>
          <p:cNvPr id="19" name="Shape 17"/>
          <p:cNvSpPr/>
          <p:nvPr/>
        </p:nvSpPr>
        <p:spPr>
          <a:xfrm>
            <a:off x="8125968" y="3703320"/>
            <a:ext cx="3514344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27080" y="3904488"/>
            <a:ext cx="457200" cy="457200"/>
          </a:xfrm>
          <a:prstGeom prst="ellipse">
            <a:avLst/>
          </a:prstGeom>
          <a:solidFill>
            <a:srgbClr val="1F6A68"/>
          </a:solidFill>
          <a:ln w="12700">
            <a:solidFill>
              <a:srgbClr val="1F6A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2708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354568" y="44348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كشف العائق</a:t>
            </a:r>
            <a:endParaRPr lang="ar-SA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354568" y="484632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أول متطلب ناقص يصبح العائق، ومعه سببه ومساره الرسمي وجهته</a:t>
            </a:r>
            <a:endParaRPr lang="ar-SA" sz="1100" dirty="0"/>
          </a:p>
        </p:txBody>
      </p:sp>
      <p:sp>
        <p:nvSpPr>
          <p:cNvPr id="24" name="Shape 22"/>
          <p:cNvSpPr/>
          <p:nvPr/>
        </p:nvSpPr>
        <p:spPr>
          <a:xfrm>
            <a:off x="4337304" y="3703320"/>
            <a:ext cx="3514344" cy="178308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8416" y="3904488"/>
            <a:ext cx="457200" cy="457200"/>
          </a:xfrm>
          <a:prstGeom prst="ellipse">
            <a:avLst/>
          </a:prstGeom>
          <a:solidFill>
            <a:srgbClr val="1F6A68"/>
          </a:solidFill>
          <a:ln w="12700">
            <a:solidFill>
              <a:srgbClr val="1F6A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38416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65904" y="44348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التالية</a:t>
            </a:r>
            <a:endParaRPr lang="ar-SA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65904" y="484632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إما إكمال متطلب أو التقديم، مع رابط القناة الرسمية والمدة المتوقعة</a:t>
            </a:r>
            <a:endParaRPr lang="ar-SA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703320"/>
            <a:ext cx="3514344" cy="1783080"/>
          </a:xfrm>
          <a:prstGeom prst="roundRect">
            <a:avLst>
              <a:gd name="adj" fmla="val 9231"/>
            </a:avLst>
          </a:prstGeom>
          <a:solidFill>
            <a:srgbClr val="E3F0EF"/>
          </a:solidFill>
          <a:ln w="952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مغطّى باختبارات</a:t>
            </a:r>
            <a:endParaRPr lang="ar-SA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434840"/>
            <a:ext cx="3057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اختباراً آلياً تشمل سلامة القاعدة، ومطابقة 18 عبارة باللهجة، ومسار العائق كاملاً حتى العودة للرحلة</a:t>
            </a:r>
            <a:endParaRPr lang="ar-SA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068312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 · التقنية · 5</a:t>
            </a:r>
            <a:endParaRPr lang="ar-SA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فهم اللغة والصوت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يعمل اليوم، وما هو مُجهَّز للربط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231636" y="1645920"/>
            <a:ext cx="5408676" cy="2148840"/>
          </a:xfrm>
          <a:prstGeom prst="roundRect">
            <a:avLst>
              <a:gd name="adj" fmla="val 7660"/>
            </a:avLst>
          </a:prstGeom>
          <a:solidFill>
            <a:srgbClr val="E4F0EA"/>
          </a:solidFill>
          <a:ln w="952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94392" y="18288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F6A68"/>
          </a:solidFill>
          <a:ln w="12700">
            <a:solidFill>
              <a:srgbClr val="1F6A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94392" y="18288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اليوم</a:t>
            </a:r>
            <a:endParaRPr lang="ar-SA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05956" y="1874520"/>
            <a:ext cx="3488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مطابقة عربي</a:t>
            </a:r>
            <a:endParaRPr lang="ar-SA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05956" y="2377440"/>
            <a:ext cx="48600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يوزّن الكلمات المفتاحية بطولها، فيتفوق «علامة تجارية» على «مشروع». يطبّع الهمزات والتاء المربوطة، ويغطي 17 سيناريو باللهجة السعودية.</a:t>
            </a:r>
            <a:endParaRPr lang="ar-SA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5408676" cy="2148840"/>
          </a:xfrm>
          <a:prstGeom prst="roundRect">
            <a:avLst>
              <a:gd name="adj" fmla="val 7660"/>
            </a:avLst>
          </a:prstGeom>
          <a:solidFill>
            <a:srgbClr val="FBF3E0"/>
          </a:solidFill>
          <a:ln w="9525">
            <a:solidFill>
              <a:srgbClr val="E8D9B5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54196" y="1828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8A6D3B"/>
          </a:solidFill>
          <a:ln w="12700">
            <a:solidFill>
              <a:srgbClr val="8A6D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54196" y="18288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مُجهَّز، غير مربوط</a:t>
            </a:r>
            <a:endParaRPr lang="ar-SA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874520"/>
            <a:ext cx="30312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طبقة النموذج اللغوي</a:t>
            </a:r>
            <a:endParaRPr lang="ar-SA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377440"/>
            <a:ext cx="48600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واحدة تدعم: Oracle، وAnthropic، وأي نقطة نهاية متوافقة مع OpenAI. تُفعَّل بمتغير بيئة واحد، وعند تعطلها يرجع الفهم للقواعد تلقائياً.</a:t>
            </a:r>
            <a:endParaRPr lang="ar-SA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91672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2245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الإدخال الصوتي</a:t>
            </a:r>
            <a:endParaRPr lang="ar-SA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68172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Speech API داخل المتصفح بلغة ar-SA: يحوّل الكلام العربي إلى نص فوراً، بلا خدمة خارجية وبلا تكلفة. يعمل في Chrome وEdge، ومع رفض الإذن تظهر رسالة عربية واضحة بدل الفشل الصامت.</a:t>
            </a:r>
            <a:endParaRPr lang="ar-SA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F6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المبدأ: لا شيء في العرض يعتمد على اتصال خارجي قد ينقطع أمام اللجنة.</a:t>
            </a:r>
            <a:endParaRPr lang="ar-SA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068312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 · التقنية · 6</a:t>
            </a:r>
            <a:endParaRPr lang="ar-SA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المعرفة كبنية بيانات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الخدمات الحكومية مكتوبة كأنواع TypeScript، لا كنصوص حرة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9948672" y="164592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948672" y="175564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1F6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948672" y="24871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خدمة</a:t>
            </a:r>
            <a:endParaRPr lang="ar-SA" sz="1200" dirty="0"/>
          </a:p>
        </p:txBody>
      </p:sp>
      <p:sp>
        <p:nvSpPr>
          <p:cNvPr id="7" name="Shape 5"/>
          <p:cNvSpPr/>
          <p:nvPr/>
        </p:nvSpPr>
        <p:spPr>
          <a:xfrm>
            <a:off x="8028432" y="164592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028432" y="175564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1F6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4871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سيناريو</a:t>
            </a:r>
            <a:endParaRPr lang="ar-SA" sz="1200" dirty="0"/>
          </a:p>
        </p:txBody>
      </p:sp>
      <p:sp>
        <p:nvSpPr>
          <p:cNvPr id="10" name="Shape 8"/>
          <p:cNvSpPr/>
          <p:nvPr/>
        </p:nvSpPr>
        <p:spPr>
          <a:xfrm>
            <a:off x="6108192" y="164592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08192" y="175564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1F6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08192" y="24871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جهة</a:t>
            </a:r>
            <a:endParaRPr lang="ar-SA" sz="1200" dirty="0"/>
          </a:p>
        </p:txBody>
      </p:sp>
      <p:sp>
        <p:nvSpPr>
          <p:cNvPr id="13" name="Shape 11"/>
          <p:cNvSpPr/>
          <p:nvPr/>
        </p:nvSpPr>
        <p:spPr>
          <a:xfrm>
            <a:off x="4187952" y="164592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187952" y="175564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1F6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187952" y="24871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اختباراً</a:t>
            </a:r>
            <a:endParaRPr lang="ar-SA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1645920"/>
            <a:ext cx="3364992" cy="1371600"/>
          </a:xfrm>
          <a:prstGeom prst="roundRect">
            <a:avLst>
              <a:gd name="adj" fmla="val 12000"/>
            </a:avLst>
          </a:prstGeom>
          <a:solidFill>
            <a:srgbClr val="E3F0EF"/>
          </a:solidFill>
          <a:ln w="952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182880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· Requirement · Scenario</a:t>
            </a:r>
            <a:endParaRPr lang="ar-SA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228600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أنواع تحكم كل شيء</a:t>
            </a:r>
            <a:endParaRPr lang="ar-SA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11091672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622792" y="33924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خدمة كائن مكتمل</a:t>
            </a:r>
            <a:endParaRPr lang="ar-SA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392424"/>
            <a:ext cx="7799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15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الشروط والمستندات والخطوات والرسوم والمدة والجهة ورابط القناة الرسمية وقائمة المصادر وتاريخ التحقق</a:t>
            </a:r>
            <a:endParaRPr lang="ar-SA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032504"/>
            <a:ext cx="11091672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622792" y="4178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متطلب يحمل مسار حله</a:t>
            </a:r>
            <a:endParaRPr lang="ar-SA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178808"/>
            <a:ext cx="7799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15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حقل obtain: لماذا هو مطلوب، وأين يُستخرج، وبأي خطوات، وكم يستغرق. هذا ما يغذي شاشة «لو ما أقدر؟»</a:t>
            </a:r>
            <a:endParaRPr lang="ar-SA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4818888"/>
            <a:ext cx="11091672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622792" y="49651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التبعيات صريحة</a:t>
            </a:r>
            <a:endParaRPr lang="ar-SA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965192"/>
            <a:ext cx="7799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15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prerequisites تربط الخدمات ببعضها، ومنها يُبنى ترتيب الرحلة آلياً بلا كتابة يدوية</a:t>
            </a:r>
            <a:endParaRPr lang="ar-SA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5605272"/>
            <a:ext cx="11091672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22792" y="575157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فحص سلامة آلي</a:t>
            </a:r>
            <a:endParaRPr lang="ar-SA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751576"/>
            <a:ext cx="7799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15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سكربت يتأكد أن كل معرّف وجهة ومصدر موجود، وأنه لا توجد دورات في التبعيات، قبل كل نشر</a:t>
            </a:r>
            <a:endParaRPr lang="ar-SA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068312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 · التقنية · 7</a:t>
            </a:r>
            <a:endParaRPr lang="ar-SA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الأدوات والجودة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استخدمناه حول الكود نفسه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8125968" y="1645920"/>
            <a:ext cx="3514344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07040" y="1901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3F0EF"/>
          </a:solidFill>
          <a:ln w="12700">
            <a:solidFill>
              <a:srgbClr val="E3F0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82000" y="2788920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· GitHub</a:t>
            </a:r>
            <a:endParaRPr lang="ar-SA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3182112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تتبع كل تعديل، والنشر من سطر أوامر واحد</a:t>
            </a:r>
            <a:endParaRPr lang="ar-SA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645920"/>
            <a:ext cx="3514344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18376" y="1901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4F0EA"/>
          </a:solidFill>
          <a:ln w="12700">
            <a:solidFill>
              <a:srgbClr val="E4F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3336" y="2788920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Pexels</a:t>
            </a:r>
            <a:endParaRPr lang="ar-SA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93336" y="3182112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 الجبال الصحراوية برخصة استخدام حر</a:t>
            </a:r>
            <a:endParaRPr lang="ar-SA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645920"/>
            <a:ext cx="3514344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029712" y="1901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4EDF5"/>
          </a:solidFill>
          <a:ln w="12700">
            <a:solidFill>
              <a:srgbClr val="E4ED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788920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Lucide</a:t>
            </a:r>
            <a:endParaRPr lang="ar-SA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3182112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أيقونة مميزة لكل خدمة من مكتبة مفتوحة المصدر</a:t>
            </a:r>
            <a:endParaRPr lang="ar-SA" sz="1100" dirty="0"/>
          </a:p>
        </p:txBody>
      </p:sp>
      <p:sp>
        <p:nvSpPr>
          <p:cNvPr id="16" name="Shape 14"/>
          <p:cNvSpPr/>
          <p:nvPr/>
        </p:nvSpPr>
        <p:spPr>
          <a:xfrm>
            <a:off x="8125968" y="3886200"/>
            <a:ext cx="3514344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607040" y="414223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BE7F4"/>
          </a:solidFill>
          <a:ln w="12700">
            <a:solidFill>
              <a:srgbClr val="EBE7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0" y="5029200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Plex Sans Arabic</a:t>
            </a:r>
            <a:endParaRPr lang="ar-SA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82000" y="5422392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 عربي من Google Fonts مقروء على الجوال</a:t>
            </a:r>
            <a:endParaRPr lang="ar-SA" sz="1100" dirty="0"/>
          </a:p>
        </p:txBody>
      </p:sp>
      <p:sp>
        <p:nvSpPr>
          <p:cNvPr id="20" name="Shape 18"/>
          <p:cNvSpPr/>
          <p:nvPr/>
        </p:nvSpPr>
        <p:spPr>
          <a:xfrm>
            <a:off x="4337304" y="3886200"/>
            <a:ext cx="3514344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18376" y="414223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4EEE3"/>
          </a:solidFill>
          <a:ln w="12700">
            <a:solidFill>
              <a:srgbClr val="F4EE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3336" y="5029200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شعار SVG متجهي</a:t>
            </a:r>
            <a:endParaRPr lang="ar-SA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93336" y="5422392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أُعيد رسم الشعار كمتجه بجودة غير محدودة</a:t>
            </a:r>
            <a:endParaRPr lang="ar-SA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3514344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029712" y="414223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3F0EF"/>
          </a:solidFill>
          <a:ln w="12700">
            <a:solidFill>
              <a:srgbClr val="E3F0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" y="5029200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test</a:t>
            </a:r>
            <a:endParaRPr lang="ar-SA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5422392"/>
            <a:ext cx="300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اختبارات المحرك وفحص القاعدة قبل كل نشر</a:t>
            </a:r>
            <a:endParaRPr lang="ar-SA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068312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 · التقنية · 8</a:t>
            </a:r>
            <a:endParaRPr lang="ar-SA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هذه التقنيات؟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قرارات هندسية لهاكاثون قصير ومنتج قابل للتوسع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231636" y="1600200"/>
            <a:ext cx="5408676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05956" y="1801368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سرعة</a:t>
            </a:r>
            <a:endParaRPr lang="ar-SA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505956" y="2258568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الفكرة إلى رابط حي في أيام، ونشر التحديث في أقل من دقيقة</a:t>
            </a:r>
            <a:endParaRPr lang="ar-SA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08676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801368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💸 تكلفة صفر</a:t>
            </a:r>
            <a:endParaRPr lang="ar-SA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58568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الأدوات مجانية أو ضمن خطط مجانية، بلا بطاقة ولا اشتراك</a:t>
            </a:r>
            <a:endParaRPr lang="ar-SA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2990088"/>
            <a:ext cx="5408676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05956" y="3191256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توسع بملف واحد</a:t>
            </a:r>
            <a:endParaRPr lang="ar-SA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05956" y="3648456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إضافة خدمة حكومية جديدة = كائن بيانات، بلا تعديل على المحرك أو الواجهة</a:t>
            </a:r>
            <a:endParaRPr lang="ar-SA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90088"/>
            <a:ext cx="5408676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191256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أمان بالأساس</a:t>
            </a:r>
            <a:endParaRPr lang="ar-SA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تجزئة كلمات المرور، جلسات موقّعة، وعزل بيانات كل مستخدم في كل استعلام</a:t>
            </a:r>
            <a:endParaRPr lang="ar-SA" sz="1200" dirty="0"/>
          </a:p>
        </p:txBody>
      </p:sp>
      <p:sp>
        <p:nvSpPr>
          <p:cNvPr id="16" name="Shape 14"/>
          <p:cNvSpPr/>
          <p:nvPr/>
        </p:nvSpPr>
        <p:spPr>
          <a:xfrm>
            <a:off x="6231636" y="4379976"/>
            <a:ext cx="5408676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DDE7E7"/>
            </a:solidFill>
            <a:prstDash val="solid"/>
          </a:ln>
          <a:effectLst>
            <a:outerShdw sx="100000" sy="100000" kx="0" ky="0" algn="bl" rotWithShape="0" blurRad="76200" dist="25400" dir="5400000">
              <a:srgbClr val="17504E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05956" y="4581144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5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🛟 يعمل بلا إنترنت خارجي</a:t>
            </a:r>
            <a:endParaRPr lang="ar-SA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05956" y="5038344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اعتماد إلزامي على أي خدمة ذكاء اصطناعي أثناء العرض</a:t>
            </a:r>
            <a:endParaRPr lang="ar-SA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379976"/>
            <a:ext cx="5408676" cy="1188720"/>
          </a:xfrm>
          <a:prstGeom prst="roundRect">
            <a:avLst>
              <a:gd name="adj" fmla="val 13846"/>
            </a:avLst>
          </a:prstGeom>
          <a:solidFill>
            <a:srgbClr val="1F6A68"/>
          </a:solidFill>
          <a:ln w="12700">
            <a:solidFill>
              <a:srgbClr val="1F6A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608576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AI: من احتياجك .. إلى خطوتك التالية</a:t>
            </a:r>
            <a:endParaRPr lang="ar-SA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065776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shamal-ai.vercel.app</a:t>
            </a:r>
            <a:endParaRPr lang="ar-SA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068312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6B7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شمال AI · التقنية · 9</a:t>
            </a:r>
            <a:endParaRPr lang="ar-SA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2026-09-12T18:37:57Z</dcterms:created>
  <dcterms:modified xsi:type="dcterms:W3CDTF">2026-09-12T18:37:57Z</dcterms:modified>
</cp:coreProperties>
</file>