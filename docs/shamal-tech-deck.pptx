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شريحة الغلاف: التطبيق منشور ويعمل على الرابط، نعرض اليوم التقنيات المستخدمة بلغة مبسطة.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نشرح التدفق كاملاً بمثال بدء مشروع.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651760" y="1005840"/>
            <a:ext cx="6858000" cy="4846320"/>
          </a:xfrm>
          <a:prstGeom prst="roundRect">
            <a:avLst>
              <a:gd name="adj" fmla="val 566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17504E">
                <a:alpha val="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486400" y="1325880"/>
            <a:ext cx="1234440" cy="1234440"/>
          </a:xfrm>
          <a:prstGeom prst="roundRect">
            <a:avLst>
              <a:gd name="adj" fmla="val 1185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651760" y="265176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4400" b="1" dirty="0">
                <a:solidFill>
                  <a:srgbClr val="175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شمال AI</a:t>
            </a:r>
            <a:endParaRPr lang="ar-SA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2651760" y="34290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600" dirty="0">
                <a:solidFill>
                  <a:srgbClr val="6B7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خدماتك الحكومية .. بأسهل طريقة</a:t>
            </a:r>
            <a:endParaRPr lang="ar-SA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2651760" y="40690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rgbClr val="1F6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التقنية خلف التطبيق: كيف بنيناه وبأي أدوات ومصادر</a:t>
            </a:r>
            <a:endParaRPr lang="ar-SA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2651760" y="46177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300" dirty="0">
                <a:solidFill>
                  <a:srgbClr val="6B7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ENBTHON 2026 · منطقة الحدود الشمالية</a:t>
            </a:r>
            <a:endParaRPr lang="ar-SA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5120640"/>
            <a:ext cx="2651760" cy="411480"/>
          </a:xfrm>
          <a:prstGeom prst="roundRect">
            <a:avLst>
              <a:gd name="adj" fmla="val 55556"/>
            </a:avLst>
          </a:prstGeom>
          <a:solidFill>
            <a:srgbClr val="1F6A68"/>
          </a:solidFill>
          <a:ln w="12700">
            <a:solidFill>
              <a:srgbClr val="1F6A6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54880" y="51206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shamal-ai.vercel.app</a:t>
            </a:r>
            <a:endParaRPr lang="ar-SA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75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كيف يعمل التطبيق في 6 خطوات</a:t>
            </a:r>
            <a:endParaRPr lang="ar-SA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6B7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احتياج المستفيد إلى خطوته التالية</a:t>
            </a:r>
            <a:endParaRPr lang="ar-SA" sz="1400" dirty="0"/>
          </a:p>
        </p:txBody>
      </p:sp>
      <p:sp>
        <p:nvSpPr>
          <p:cNvPr id="4" name="Shape 2"/>
          <p:cNvSpPr/>
          <p:nvPr/>
        </p:nvSpPr>
        <p:spPr>
          <a:xfrm>
            <a:off x="8119872" y="1645920"/>
            <a:ext cx="3520440" cy="1965960"/>
          </a:xfrm>
          <a:prstGeom prst="roundRect">
            <a:avLst>
              <a:gd name="adj" fmla="val 8372"/>
            </a:avLst>
          </a:prstGeom>
          <a:solidFill>
            <a:srgbClr val="FFFFFF"/>
          </a:solidFill>
          <a:ln w="9525">
            <a:solidFill>
              <a:srgbClr val="DDE7E7"/>
            </a:solidFill>
            <a:prstDash val="solid"/>
          </a:ln>
          <a:effectLst>
            <a:outerShdw sx="100000" sy="100000" kx="0" ky="0" algn="bl" rotWithShape="0" blurRad="76200" dist="25400" dir="5400000">
              <a:srgbClr val="17504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54512" y="1874520"/>
            <a:ext cx="457200" cy="457200"/>
          </a:xfrm>
          <a:prstGeom prst="ellipse">
            <a:avLst/>
          </a:prstGeom>
          <a:solidFill>
            <a:srgbClr val="1F6A68"/>
          </a:solidFill>
          <a:ln w="12700">
            <a:solidFill>
              <a:srgbClr val="1F6A6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54512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SA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348472" y="246888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175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المستفيد يكتب أو يقول احتياجه بلغته</a:t>
            </a:r>
            <a:endParaRPr lang="ar-SA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348472" y="30632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6B7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«أبي أبدأ مشروع وما أعرف وش أحتاج»</a:t>
            </a:r>
            <a:endParaRPr lang="ar-SA" sz="1100" dirty="0"/>
          </a:p>
        </p:txBody>
      </p:sp>
      <p:sp>
        <p:nvSpPr>
          <p:cNvPr id="9" name="Shape 7"/>
          <p:cNvSpPr/>
          <p:nvPr/>
        </p:nvSpPr>
        <p:spPr>
          <a:xfrm>
            <a:off x="4279392" y="1645920"/>
            <a:ext cx="3520440" cy="1965960"/>
          </a:xfrm>
          <a:prstGeom prst="roundRect">
            <a:avLst>
              <a:gd name="adj" fmla="val 8372"/>
            </a:avLst>
          </a:prstGeom>
          <a:solidFill>
            <a:srgbClr val="FFFFFF"/>
          </a:solidFill>
          <a:ln w="9525">
            <a:solidFill>
              <a:srgbClr val="DDE7E7"/>
            </a:solidFill>
            <a:prstDash val="solid"/>
          </a:ln>
          <a:effectLst>
            <a:outerShdw sx="100000" sy="100000" kx="0" ky="0" algn="bl" rotWithShape="0" blurRad="76200" dist="25400" dir="5400000">
              <a:srgbClr val="17504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14032" y="1874520"/>
            <a:ext cx="457200" cy="457200"/>
          </a:xfrm>
          <a:prstGeom prst="ellipse">
            <a:avLst/>
          </a:prstGeom>
          <a:solidFill>
            <a:srgbClr val="1F6A68"/>
          </a:solidFill>
          <a:ln w="12700">
            <a:solidFill>
              <a:srgbClr val="1F6A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14032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SA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07992" y="246888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175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التطبيق يفهم القصد ويسأل أسئلة قصيرة</a:t>
            </a:r>
            <a:endParaRPr lang="ar-SA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07992" y="30632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6B7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نوع النشاط؟ المدينة؟ شركاء؟</a:t>
            </a:r>
            <a:endParaRPr lang="ar-SA" sz="1100" dirty="0"/>
          </a:p>
        </p:txBody>
      </p:sp>
      <p:sp>
        <p:nvSpPr>
          <p:cNvPr id="14" name="Shape 12"/>
          <p:cNvSpPr/>
          <p:nvPr/>
        </p:nvSpPr>
        <p:spPr>
          <a:xfrm>
            <a:off x="438912" y="1645920"/>
            <a:ext cx="3520440" cy="1965960"/>
          </a:xfrm>
          <a:prstGeom prst="roundRect">
            <a:avLst>
              <a:gd name="adj" fmla="val 8372"/>
            </a:avLst>
          </a:prstGeom>
          <a:solidFill>
            <a:srgbClr val="FFFFFF"/>
          </a:solidFill>
          <a:ln w="9525">
            <a:solidFill>
              <a:srgbClr val="DDE7E7"/>
            </a:solidFill>
            <a:prstDash val="solid"/>
          </a:ln>
          <a:effectLst>
            <a:outerShdw sx="100000" sy="100000" kx="0" ky="0" algn="bl" rotWithShape="0" blurRad="76200" dist="25400" dir="5400000">
              <a:srgbClr val="17504E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73552" y="1874520"/>
            <a:ext cx="457200" cy="457200"/>
          </a:xfrm>
          <a:prstGeom prst="ellipse">
            <a:avLst/>
          </a:prstGeom>
          <a:solidFill>
            <a:srgbClr val="1F6A68"/>
          </a:solidFill>
          <a:ln w="12700">
            <a:solidFill>
              <a:srgbClr val="1F6A6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273552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SA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67512" y="246888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175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يطابق الاحتياج مع الخدمات الرسمية ويبني رحلة مرتبة</a:t>
            </a:r>
            <a:endParaRPr lang="ar-SA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67512" y="30632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6B7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سجل تجاري ← رخصة بلدي ← تراخيص ← ضريبة</a:t>
            </a:r>
            <a:endParaRPr lang="ar-SA" sz="1100" dirty="0"/>
          </a:p>
        </p:txBody>
      </p:sp>
      <p:sp>
        <p:nvSpPr>
          <p:cNvPr id="19" name="Shape 17"/>
          <p:cNvSpPr/>
          <p:nvPr/>
        </p:nvSpPr>
        <p:spPr>
          <a:xfrm>
            <a:off x="8119872" y="3931920"/>
            <a:ext cx="3520440" cy="1965960"/>
          </a:xfrm>
          <a:prstGeom prst="roundRect">
            <a:avLst>
              <a:gd name="adj" fmla="val 8372"/>
            </a:avLst>
          </a:prstGeom>
          <a:solidFill>
            <a:srgbClr val="FFFFFF"/>
          </a:solidFill>
          <a:ln w="9525">
            <a:solidFill>
              <a:srgbClr val="DDE7E7"/>
            </a:solidFill>
            <a:prstDash val="solid"/>
          </a:ln>
          <a:effectLst>
            <a:outerShdw sx="100000" sy="100000" kx="0" ky="0" algn="bl" rotWithShape="0" blurRad="76200" dist="25400" dir="5400000">
              <a:srgbClr val="17504E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954512" y="4160520"/>
            <a:ext cx="457200" cy="457200"/>
          </a:xfrm>
          <a:prstGeom prst="ellipse">
            <a:avLst/>
          </a:prstGeom>
          <a:solidFill>
            <a:srgbClr val="1F6A68"/>
          </a:solidFill>
          <a:ln w="12700">
            <a:solidFill>
              <a:srgbClr val="1F6A6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954512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ar-SA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8348472" y="475488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175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يفحص المتطلبات ويحسب مؤشر الجاهزية</a:t>
            </a:r>
            <a:endParaRPr lang="ar-SA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348472" y="53492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6B7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🟢 جاهز · 🟡 يحتاج إكمال · 🔴 لا تبدأ الآن</a:t>
            </a:r>
            <a:endParaRPr lang="ar-SA" sz="1100" dirty="0"/>
          </a:p>
        </p:txBody>
      </p:sp>
      <p:sp>
        <p:nvSpPr>
          <p:cNvPr id="24" name="Shape 22"/>
          <p:cNvSpPr/>
          <p:nvPr/>
        </p:nvSpPr>
        <p:spPr>
          <a:xfrm>
            <a:off x="4279392" y="3931920"/>
            <a:ext cx="3520440" cy="1965960"/>
          </a:xfrm>
          <a:prstGeom prst="roundRect">
            <a:avLst>
              <a:gd name="adj" fmla="val 8372"/>
            </a:avLst>
          </a:prstGeom>
          <a:solidFill>
            <a:srgbClr val="FFFFFF"/>
          </a:solidFill>
          <a:ln w="9525">
            <a:solidFill>
              <a:srgbClr val="DDE7E7"/>
            </a:solidFill>
            <a:prstDash val="solid"/>
          </a:ln>
          <a:effectLst>
            <a:outerShdw sx="100000" sy="100000" kx="0" ky="0" algn="bl" rotWithShape="0" blurRad="76200" dist="25400" dir="5400000">
              <a:srgbClr val="17504E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114032" y="4160520"/>
            <a:ext cx="457200" cy="457200"/>
          </a:xfrm>
          <a:prstGeom prst="ellipse">
            <a:avLst/>
          </a:prstGeom>
          <a:solidFill>
            <a:srgbClr val="1F6A68"/>
          </a:solidFill>
          <a:ln w="12700">
            <a:solidFill>
              <a:srgbClr val="1F6A6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114032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ar-SA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4507992" y="475488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175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عند وجود عائق: ميزة «لو ما أقدر؟»</a:t>
            </a:r>
            <a:endParaRPr lang="ar-SA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507992" y="53492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6B7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تشرح السبب وتعرض المسار الرسمي للحل</a:t>
            </a:r>
            <a:endParaRPr lang="ar-SA" sz="1100" dirty="0"/>
          </a:p>
        </p:txBody>
      </p:sp>
      <p:sp>
        <p:nvSpPr>
          <p:cNvPr id="29" name="Shape 27"/>
          <p:cNvSpPr/>
          <p:nvPr/>
        </p:nvSpPr>
        <p:spPr>
          <a:xfrm>
            <a:off x="438912" y="3931920"/>
            <a:ext cx="3520440" cy="1965960"/>
          </a:xfrm>
          <a:prstGeom prst="roundRect">
            <a:avLst>
              <a:gd name="adj" fmla="val 8372"/>
            </a:avLst>
          </a:prstGeom>
          <a:solidFill>
            <a:srgbClr val="FFFFFF"/>
          </a:solidFill>
          <a:ln w="9525">
            <a:solidFill>
              <a:srgbClr val="DDE7E7"/>
            </a:solidFill>
            <a:prstDash val="solid"/>
          </a:ln>
          <a:effectLst>
            <a:outerShdw sx="100000" sy="100000" kx="0" ky="0" algn="bl" rotWithShape="0" blurRad="76200" dist="25400" dir="5400000">
              <a:srgbClr val="17504E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73552" y="4160520"/>
            <a:ext cx="457200" cy="457200"/>
          </a:xfrm>
          <a:prstGeom prst="ellipse">
            <a:avLst/>
          </a:prstGeom>
          <a:solidFill>
            <a:srgbClr val="1F6A68"/>
          </a:solidFill>
          <a:ln w="12700">
            <a:solidFill>
              <a:srgbClr val="1F6A6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273552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ar-SA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67512" y="475488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175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يحدد خطوتك التالية</a:t>
            </a:r>
            <a:endParaRPr lang="ar-SA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667512" y="53492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6B7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زر ينقلك مباشرة للقناة الرسمية</a:t>
            </a:r>
            <a:endParaRPr lang="ar-SA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l" indent="0" marL="0">
              <a:buNone/>
            </a:pPr>
            <a:r>
              <a:rPr lang="ar-SA" altLang="en-US" sz="1000" dirty="0">
                <a:solidFill>
                  <a:srgbClr val="6B7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shamal-ai.vercel.app</a:t>
            </a:r>
            <a:endParaRPr lang="ar-SA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7068312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000" dirty="0">
                <a:solidFill>
                  <a:srgbClr val="6B7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شمال AI · ENBTHON 2026 · 2</a:t>
            </a:r>
            <a:endParaRPr lang="ar-SA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75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واجهة التطبيق (ما يراه المستخدم)</a:t>
            </a:r>
            <a:endParaRPr lang="ar-SA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6B7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أدوات مفتوحة المصدر ومشهورة عالمياً</a:t>
            </a:r>
            <a:endParaRPr lang="ar-SA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1672" cy="100584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9525">
            <a:solidFill>
              <a:srgbClr val="DDE7E7"/>
            </a:solidFill>
            <a:prstDash val="solid"/>
          </a:ln>
          <a:effectLst>
            <a:outerShdw sx="100000" sy="100000" kx="0" ky="0" algn="bl" rotWithShape="0" blurRad="76200" dist="25400" dir="5400000">
              <a:srgbClr val="17504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725912" y="178308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E4EDF5"/>
          </a:solidFill>
          <a:ln w="12700">
            <a:solidFill>
              <a:srgbClr val="E4ED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810512"/>
            <a:ext cx="9811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75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</a:t>
            </a:r>
            <a:endParaRPr lang="ar-SA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76272"/>
            <a:ext cx="9811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6B7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إطار العمل الذي يبني صفحات التطبيق ويجعلها سريعة، ويشغّل خدمات الخادم (تسجيل الدخول والبيانات)</a:t>
            </a:r>
            <a:endParaRPr lang="ar-SA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852928"/>
            <a:ext cx="11091672" cy="100584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9525">
            <a:solidFill>
              <a:srgbClr val="DDE7E7"/>
            </a:solidFill>
            <a:prstDash val="solid"/>
          </a:ln>
          <a:effectLst>
            <a:outerShdw sx="100000" sy="100000" kx="0" ky="0" algn="bl" rotWithShape="0" blurRad="76200" dist="25400" dir="5400000">
              <a:srgbClr val="17504E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725912" y="2990088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E4F0EA"/>
          </a:solidFill>
          <a:ln w="12700">
            <a:solidFill>
              <a:srgbClr val="E4F0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017520"/>
            <a:ext cx="9811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75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</a:t>
            </a:r>
            <a:endParaRPr lang="ar-SA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383280"/>
            <a:ext cx="9811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6B7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مكتبة بناء الشاشات التفاعلية: قائمة التحقق، الأزرار، مؤشر الجاهزية</a:t>
            </a:r>
            <a:endParaRPr lang="ar-SA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059936"/>
            <a:ext cx="11091672" cy="100584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9525">
            <a:solidFill>
              <a:srgbClr val="DDE7E7"/>
            </a:solidFill>
            <a:prstDash val="solid"/>
          </a:ln>
          <a:effectLst>
            <a:outerShdw sx="100000" sy="100000" kx="0" ky="0" algn="bl" rotWithShape="0" blurRad="76200" dist="25400" dir="5400000">
              <a:srgbClr val="17504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725912" y="4197096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EBE7F4"/>
          </a:solidFill>
          <a:ln w="12700">
            <a:solidFill>
              <a:srgbClr val="EBE7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224528"/>
            <a:ext cx="9811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75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</a:t>
            </a:r>
            <a:endParaRPr lang="ar-SA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590288"/>
            <a:ext cx="9811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6B7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لغة برمجة تكتشف الأخطاء قبل وصولها للمستخدم</a:t>
            </a:r>
            <a:endParaRPr lang="ar-SA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266944"/>
            <a:ext cx="11091672" cy="100584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9525">
            <a:solidFill>
              <a:srgbClr val="DDE7E7"/>
            </a:solidFill>
            <a:prstDash val="solid"/>
          </a:ln>
          <a:effectLst>
            <a:outerShdw sx="100000" sy="100000" kx="0" ky="0" algn="bl" rotWithShape="0" blurRad="76200" dist="25400" dir="5400000">
              <a:srgbClr val="17504E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0725912" y="5404104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5431536"/>
            <a:ext cx="9811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75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</a:t>
            </a:r>
            <a:endParaRPr lang="ar-SA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5797296"/>
            <a:ext cx="9811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6B7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أداة التصميم التي أعطت التطبيق ألوانه وبطاقاته الدائرية</a:t>
            </a:r>
            <a:endParaRPr lang="ar-SA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852160"/>
            <a:ext cx="11091672" cy="411480"/>
          </a:xfrm>
          <a:prstGeom prst="roundRect">
            <a:avLst>
              <a:gd name="adj" fmla="val 55556"/>
            </a:avLst>
          </a:prstGeom>
          <a:solidFill>
            <a:srgbClr val="E3F0EF"/>
          </a:solidFill>
          <a:ln w="12700">
            <a:solidFill>
              <a:srgbClr val="E3F0E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585216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rgbClr val="175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تصميم جوال أولاً: يعمل على أي هاتف أو متصفح بدون تحميل تطبيق</a:t>
            </a:r>
            <a:endParaRPr lang="ar-SA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l" indent="0" marL="0">
              <a:buNone/>
            </a:pPr>
            <a:r>
              <a:rPr lang="ar-SA" altLang="en-US" sz="1000" dirty="0">
                <a:solidFill>
                  <a:srgbClr val="6B7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shamal-ai.vercel.app</a:t>
            </a:r>
            <a:endParaRPr lang="ar-SA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7068312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000" dirty="0">
                <a:solidFill>
                  <a:srgbClr val="6B7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شمال AI · ENBTHON 2026 · 3</a:t>
            </a:r>
            <a:endParaRPr lang="ar-SA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75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الاستضافة والبيانات</a:t>
            </a:r>
            <a:endParaRPr lang="ar-SA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6B7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أين يعيش التطبيق وكيف نحمي بيانات المستخدم</a:t>
            </a:r>
            <a:endParaRPr lang="ar-SA" sz="1400" dirty="0"/>
          </a:p>
        </p:txBody>
      </p:sp>
      <p:sp>
        <p:nvSpPr>
          <p:cNvPr id="4" name="Shape 2"/>
          <p:cNvSpPr/>
          <p:nvPr/>
        </p:nvSpPr>
        <p:spPr>
          <a:xfrm>
            <a:off x="6245352" y="1645920"/>
            <a:ext cx="5394960" cy="210312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9525">
            <a:solidFill>
              <a:srgbClr val="DDE7E7"/>
            </a:solidFill>
            <a:prstDash val="solid"/>
          </a:ln>
          <a:effectLst>
            <a:outerShdw sx="100000" sy="100000" kx="0" ky="0" algn="bl" rotWithShape="0" blurRad="76200" dist="25400" dir="5400000">
              <a:srgbClr val="17504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451592" y="1920240"/>
            <a:ext cx="914400" cy="914400"/>
          </a:xfrm>
          <a:prstGeom prst="roundRect">
            <a:avLst>
              <a:gd name="adj" fmla="val 16000"/>
            </a:avLst>
          </a:prstGeom>
          <a:solidFill>
            <a:srgbClr val="E4EDF5"/>
          </a:solidFill>
          <a:ln w="12700">
            <a:solidFill>
              <a:srgbClr val="E4ED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19672" y="19659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75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</a:t>
            </a:r>
            <a:endParaRPr lang="ar-SA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519672" y="256032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6B7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يستضيف التطبيق على الإنترنت ويعطينا رابطاً عاماً يفتح من أي جهاز، وينشر التحديثات خلال دقيقة</a:t>
            </a:r>
            <a:endParaRPr lang="ar-SA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645920"/>
            <a:ext cx="5394960" cy="210312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9525">
            <a:solidFill>
              <a:srgbClr val="DDE7E7"/>
            </a:solidFill>
            <a:prstDash val="solid"/>
          </a:ln>
          <a:effectLst>
            <a:outerShdw sx="100000" sy="100000" kx="0" ky="0" algn="bl" rotWithShape="0" blurRad="76200" dist="25400" dir="5400000">
              <a:srgbClr val="17504E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920240"/>
            <a:ext cx="914400" cy="914400"/>
          </a:xfrm>
          <a:prstGeom prst="roundRect">
            <a:avLst>
              <a:gd name="adj" fmla="val 16000"/>
            </a:avLst>
          </a:prstGeom>
          <a:solidFill>
            <a:srgbClr val="E4F0EA"/>
          </a:solidFill>
          <a:ln w="12700">
            <a:solidFill>
              <a:srgbClr val="E4F0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19659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75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Neon Postgres</a:t>
            </a:r>
            <a:endParaRPr lang="ar-SA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56032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6B7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قاعدة البيانات التي تحفظ الحسابات والرحلات والإشعارات، ومرتبطة مباشرة بـ Vercel</a:t>
            </a:r>
            <a:endParaRPr lang="ar-SA" sz="1300" dirty="0"/>
          </a:p>
        </p:txBody>
      </p:sp>
      <p:sp>
        <p:nvSpPr>
          <p:cNvPr id="12" name="Shape 10"/>
          <p:cNvSpPr/>
          <p:nvPr/>
        </p:nvSpPr>
        <p:spPr>
          <a:xfrm>
            <a:off x="8125968" y="4069080"/>
            <a:ext cx="3514344" cy="1554480"/>
          </a:xfrm>
          <a:prstGeom prst="roundRect">
            <a:avLst>
              <a:gd name="adj" fmla="val 10588"/>
            </a:avLst>
          </a:prstGeom>
          <a:solidFill>
            <a:srgbClr val="E3F0EF"/>
          </a:solidFill>
          <a:ln w="9525">
            <a:solidFill>
              <a:srgbClr val="DDE7E7"/>
            </a:solidFill>
            <a:prstDash val="solid"/>
          </a:ln>
          <a:effectLst>
            <a:outerShdw sx="100000" sy="100000" kx="0" ky="0" algn="bl" rotWithShape="0" blurRad="76200" dist="25400" dir="5400000">
              <a:srgbClr val="17504E">
                <a:alpha val="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354568" y="4297680"/>
            <a:ext cx="3057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rgbClr val="175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كلمات المرور مشفرة</a:t>
            </a:r>
            <a:endParaRPr lang="ar-SA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354568" y="4800600"/>
            <a:ext cx="3057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6B7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بخوارزمية bcrypt ولا تُخزن كنص أبداً</a:t>
            </a:r>
            <a:endParaRPr lang="ar-SA" sz="1200" dirty="0"/>
          </a:p>
        </p:txBody>
      </p:sp>
      <p:sp>
        <p:nvSpPr>
          <p:cNvPr id="15" name="Shape 13"/>
          <p:cNvSpPr/>
          <p:nvPr/>
        </p:nvSpPr>
        <p:spPr>
          <a:xfrm>
            <a:off x="4337304" y="4069080"/>
            <a:ext cx="3514344" cy="1554480"/>
          </a:xfrm>
          <a:prstGeom prst="roundRect">
            <a:avLst>
              <a:gd name="adj" fmla="val 10588"/>
            </a:avLst>
          </a:prstGeom>
          <a:solidFill>
            <a:srgbClr val="E3F0EF"/>
          </a:solidFill>
          <a:ln w="9525">
            <a:solidFill>
              <a:srgbClr val="DDE7E7"/>
            </a:solidFill>
            <a:prstDash val="solid"/>
          </a:ln>
          <a:effectLst>
            <a:outerShdw sx="100000" sy="100000" kx="0" ky="0" algn="bl" rotWithShape="0" blurRad="76200" dist="25400" dir="5400000">
              <a:srgbClr val="17504E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4565904" y="4297680"/>
            <a:ext cx="3057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rgbClr val="175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🪪 جلسة دخول موقّعة</a:t>
            </a:r>
            <a:endParaRPr lang="ar-SA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565904" y="4800600"/>
            <a:ext cx="3057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6B7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رمز JWT صالح 30 يوماً داخل كوكي آمن</a:t>
            </a:r>
            <a:endParaRPr lang="ar-SA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069080"/>
            <a:ext cx="3514344" cy="1554480"/>
          </a:xfrm>
          <a:prstGeom prst="roundRect">
            <a:avLst>
              <a:gd name="adj" fmla="val 10588"/>
            </a:avLst>
          </a:prstGeom>
          <a:solidFill>
            <a:srgbClr val="E3F0EF"/>
          </a:solidFill>
          <a:ln w="9525">
            <a:solidFill>
              <a:srgbClr val="DDE7E7"/>
            </a:solidFill>
            <a:prstDash val="solid"/>
          </a:ln>
          <a:effectLst>
            <a:outerShdw sx="100000" sy="100000" kx="0" ky="0" algn="bl" rotWithShape="0" blurRad="76200" dist="25400" dir="5400000">
              <a:srgbClr val="17504E">
                <a:alpha val="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777240" y="4297680"/>
            <a:ext cx="3057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rgbClr val="175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🗂️ لا نخزن مستنداتك</a:t>
            </a:r>
            <a:endParaRPr lang="ar-SA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4800600"/>
            <a:ext cx="3057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6B7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فقط حالة رحلتك والمتطلبات التي تحددها بنفسك</a:t>
            </a:r>
            <a:endParaRPr lang="ar-SA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l" indent="0" marL="0">
              <a:buNone/>
            </a:pPr>
            <a:r>
              <a:rPr lang="ar-SA" altLang="en-US" sz="1000" dirty="0">
                <a:solidFill>
                  <a:srgbClr val="6B7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shamal-ai.vercel.app</a:t>
            </a:r>
            <a:endParaRPr lang="ar-SA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7068312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000" dirty="0">
                <a:solidFill>
                  <a:srgbClr val="6B7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شمال AI · ENBTHON 2026 · 4</a:t>
            </a:r>
            <a:endParaRPr lang="ar-SA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75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 في التطبيق</a:t>
            </a:r>
            <a:endParaRPr lang="ar-SA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6B7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محرك رحلة، وليس مجرد شات بوت</a:t>
            </a:r>
            <a:endParaRPr lang="ar-SA" sz="1400" dirty="0"/>
          </a:p>
        </p:txBody>
      </p:sp>
      <p:sp>
        <p:nvSpPr>
          <p:cNvPr id="4" name="Shape 2"/>
          <p:cNvSpPr/>
          <p:nvPr/>
        </p:nvSpPr>
        <p:spPr>
          <a:xfrm>
            <a:off x="6231636" y="1645920"/>
            <a:ext cx="5408676" cy="1325880"/>
          </a:xfrm>
          <a:prstGeom prst="roundRect">
            <a:avLst>
              <a:gd name="adj" fmla="val 12414"/>
            </a:avLst>
          </a:prstGeom>
          <a:solidFill>
            <a:srgbClr val="FFFFFF"/>
          </a:solidFill>
          <a:ln w="9525">
            <a:solidFill>
              <a:srgbClr val="DDE7E7"/>
            </a:solidFill>
            <a:prstDash val="solid"/>
          </a:ln>
          <a:effectLst>
            <a:outerShdw sx="100000" sy="100000" kx="0" ky="0" algn="bl" rotWithShape="0" blurRad="76200" dist="25400" dir="5400000">
              <a:srgbClr val="17504E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505956" y="1847088"/>
            <a:ext cx="48600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rgbClr val="175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🧭 محرك الرحلة</a:t>
            </a:r>
            <a:endParaRPr lang="ar-SA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505956" y="2286000"/>
            <a:ext cx="48600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6B7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يرتب الخدمات حسب تبعياتها، يحسب مؤشر الجاهزية، ويكتشف العوائق ويقترح مسارها الرسمي</a:t>
            </a:r>
            <a:endParaRPr lang="ar-SA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5408676" cy="1325880"/>
          </a:xfrm>
          <a:prstGeom prst="roundRect">
            <a:avLst>
              <a:gd name="adj" fmla="val 12414"/>
            </a:avLst>
          </a:prstGeom>
          <a:solidFill>
            <a:srgbClr val="FFFFFF"/>
          </a:solidFill>
          <a:ln w="9525">
            <a:solidFill>
              <a:srgbClr val="DDE7E7"/>
            </a:solidFill>
            <a:prstDash val="solid"/>
          </a:ln>
          <a:effectLst>
            <a:outerShdw sx="100000" sy="100000" kx="0" ky="0" algn="bl" rotWithShape="0" blurRad="76200" dist="25400" dir="5400000">
              <a:srgbClr val="17504E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1847088"/>
            <a:ext cx="48600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rgbClr val="175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فهم اللغة</a:t>
            </a:r>
            <a:endParaRPr lang="ar-SA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286000"/>
            <a:ext cx="48600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6B7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مطابقة باللهجة السعودية بالكلمات المفتاحية، مع ربط نموذج لغوي مستضاف على Oracle لفهم أدق</a:t>
            </a:r>
            <a:endParaRPr lang="ar-SA" sz="1200" dirty="0"/>
          </a:p>
        </p:txBody>
      </p:sp>
      <p:sp>
        <p:nvSpPr>
          <p:cNvPr id="10" name="Shape 8"/>
          <p:cNvSpPr/>
          <p:nvPr/>
        </p:nvSpPr>
        <p:spPr>
          <a:xfrm>
            <a:off x="6231636" y="3200400"/>
            <a:ext cx="5408676" cy="1325880"/>
          </a:xfrm>
          <a:prstGeom prst="roundRect">
            <a:avLst>
              <a:gd name="adj" fmla="val 12414"/>
            </a:avLst>
          </a:prstGeom>
          <a:solidFill>
            <a:srgbClr val="FFFFFF"/>
          </a:solidFill>
          <a:ln w="9525">
            <a:solidFill>
              <a:srgbClr val="DDE7E7"/>
            </a:solidFill>
            <a:prstDash val="solid"/>
          </a:ln>
          <a:effectLst>
            <a:outerShdw sx="100000" sy="100000" kx="0" ky="0" algn="bl" rotWithShape="0" blurRad="76200" dist="25400" dir="5400000">
              <a:srgbClr val="17504E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505956" y="3401568"/>
            <a:ext cx="48600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rgbClr val="175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🛟 خطة بديلة</a:t>
            </a:r>
            <a:endParaRPr lang="ar-SA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505956" y="3840480"/>
            <a:ext cx="48600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6B7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الفهم بالقواعد يعمل حتى لو انقطع الاتصال بالنموذج، فلا يتوقف العرض</a:t>
            </a:r>
            <a:endParaRPr lang="ar-SA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00400"/>
            <a:ext cx="5408676" cy="1325880"/>
          </a:xfrm>
          <a:prstGeom prst="roundRect">
            <a:avLst>
              <a:gd name="adj" fmla="val 12414"/>
            </a:avLst>
          </a:prstGeom>
          <a:solidFill>
            <a:srgbClr val="FFFFFF"/>
          </a:solidFill>
          <a:ln w="9525">
            <a:solidFill>
              <a:srgbClr val="DDE7E7"/>
            </a:solidFill>
            <a:prstDash val="solid"/>
          </a:ln>
          <a:effectLst>
            <a:outerShdw sx="100000" sy="100000" kx="0" ky="0" algn="bl" rotWithShape="0" blurRad="76200" dist="25400" dir="5400000">
              <a:srgbClr val="17504E">
                <a:alpha val="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22960" y="3401568"/>
            <a:ext cx="48600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rgbClr val="175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🎤 الإدخال الصوتي</a:t>
            </a:r>
            <a:endParaRPr lang="ar-SA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3840480"/>
            <a:ext cx="48600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6B7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تقنية Web Speech في المتصفح تحوّل الكلام العربي إلى نص فوراً</a:t>
            </a:r>
            <a:endParaRPr lang="ar-SA" sz="1200" dirty="0"/>
          </a:p>
        </p:txBody>
      </p:sp>
      <p:sp>
        <p:nvSpPr>
          <p:cNvPr id="16" name="Shape 14"/>
          <p:cNvSpPr/>
          <p:nvPr/>
        </p:nvSpPr>
        <p:spPr>
          <a:xfrm>
            <a:off x="6231636" y="4754880"/>
            <a:ext cx="5408676" cy="1325880"/>
          </a:xfrm>
          <a:prstGeom prst="roundRect">
            <a:avLst>
              <a:gd name="adj" fmla="val 12414"/>
            </a:avLst>
          </a:prstGeom>
          <a:solidFill>
            <a:srgbClr val="FFFFFF"/>
          </a:solidFill>
          <a:ln w="9525">
            <a:solidFill>
              <a:srgbClr val="DDE7E7"/>
            </a:solidFill>
            <a:prstDash val="solid"/>
          </a:ln>
          <a:effectLst>
            <a:outerShdw sx="100000" sy="100000" kx="0" ky="0" algn="bl" rotWithShape="0" blurRad="76200" dist="25400" dir="5400000">
              <a:srgbClr val="17504E">
                <a:alpha val="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505956" y="4956048"/>
            <a:ext cx="48600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rgbClr val="175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مساعد سياقي</a:t>
            </a:r>
            <a:endParaRPr lang="ar-SA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505956" y="5394960"/>
            <a:ext cx="48600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6B7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يجيب داخل الرحلة من قاعدة المعرفة الرسمية فقط، ولا يقترح تجاوز الأنظمة</a:t>
            </a:r>
            <a:endParaRPr lang="ar-SA" sz="1200" dirty="0"/>
          </a:p>
        </p:txBody>
      </p:sp>
      <p:sp>
        <p:nvSpPr>
          <p:cNvPr id="19" name="Shape 17"/>
          <p:cNvSpPr/>
          <p:nvPr/>
        </p:nvSpPr>
        <p:spPr>
          <a:xfrm>
            <a:off x="822960" y="516636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E3F0EF"/>
          </a:solidFill>
          <a:ln w="12700">
            <a:solidFill>
              <a:srgbClr val="E3F0E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51663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rgbClr val="1F6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</a:t>
            </a:r>
            <a:endParaRPr lang="ar-SA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468880" y="5212080"/>
            <a:ext cx="32141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l" indent="0" marL="0">
              <a:buNone/>
            </a:pPr>
            <a:r>
              <a:rPr lang="ar-SA" altLang="en-US" sz="1200" dirty="0">
                <a:solidFill>
                  <a:srgbClr val="6B7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نموذج لغوي مستضاف لدى Oracle</a:t>
            </a:r>
            <a:endParaRPr lang="ar-SA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l" indent="0" marL="0">
              <a:buNone/>
            </a:pPr>
            <a:r>
              <a:rPr lang="ar-SA" altLang="en-US" sz="1000" dirty="0">
                <a:solidFill>
                  <a:srgbClr val="6B7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shamal-ai.vercel.app</a:t>
            </a:r>
            <a:endParaRPr lang="ar-SA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7068312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000" dirty="0">
                <a:solidFill>
                  <a:srgbClr val="6B7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شمال AI · ENBTHON 2026 · 5</a:t>
            </a:r>
            <a:endParaRPr lang="ar-SA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75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قاعدة المعرفة الحكومية</a:t>
            </a:r>
            <a:endParaRPr lang="ar-SA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6B7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معلومة في التطبيق موثقة من مصدرها الرسمي</a:t>
            </a:r>
            <a:endParaRPr lang="ar-SA" sz="1400" dirty="0"/>
          </a:p>
        </p:txBody>
      </p:sp>
      <p:sp>
        <p:nvSpPr>
          <p:cNvPr id="4" name="Shape 2"/>
          <p:cNvSpPr/>
          <p:nvPr/>
        </p:nvSpPr>
        <p:spPr>
          <a:xfrm>
            <a:off x="9262872" y="1645920"/>
            <a:ext cx="2377440" cy="155448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9525">
            <a:solidFill>
              <a:srgbClr val="DDE7E7"/>
            </a:solidFill>
            <a:prstDash val="solid"/>
          </a:ln>
          <a:effectLst>
            <a:outerShdw sx="100000" sy="100000" kx="0" ky="0" algn="bl" rotWithShape="0" blurRad="76200" dist="25400" dir="5400000">
              <a:srgbClr val="17504E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262872" y="17830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4800" b="1" dirty="0">
                <a:solidFill>
                  <a:srgbClr val="1F6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ar-SA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9262872" y="2651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300" dirty="0">
                <a:solidFill>
                  <a:srgbClr val="6B7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خدمة حكومية</a:t>
            </a:r>
            <a:endParaRPr lang="ar-SA" sz="1300" dirty="0"/>
          </a:p>
        </p:txBody>
      </p:sp>
      <p:sp>
        <p:nvSpPr>
          <p:cNvPr id="7" name="Shape 5"/>
          <p:cNvSpPr/>
          <p:nvPr/>
        </p:nvSpPr>
        <p:spPr>
          <a:xfrm>
            <a:off x="6611112" y="1645920"/>
            <a:ext cx="2377440" cy="155448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9525">
            <a:solidFill>
              <a:srgbClr val="DDE7E7"/>
            </a:solidFill>
            <a:prstDash val="solid"/>
          </a:ln>
          <a:effectLst>
            <a:outerShdw sx="100000" sy="100000" kx="0" ky="0" algn="bl" rotWithShape="0" blurRad="76200" dist="25400" dir="5400000">
              <a:srgbClr val="17504E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611112" y="17830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4800" b="1" dirty="0">
                <a:solidFill>
                  <a:srgbClr val="1F6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ar-SA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6611112" y="2651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300" dirty="0">
                <a:solidFill>
                  <a:srgbClr val="6B7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سيناريو احتياج</a:t>
            </a:r>
            <a:endParaRPr lang="ar-SA" sz="1300" dirty="0"/>
          </a:p>
        </p:txBody>
      </p:sp>
      <p:sp>
        <p:nvSpPr>
          <p:cNvPr id="10" name="Shape 8"/>
          <p:cNvSpPr/>
          <p:nvPr/>
        </p:nvSpPr>
        <p:spPr>
          <a:xfrm>
            <a:off x="3959352" y="1645920"/>
            <a:ext cx="2377440" cy="155448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9525">
            <a:solidFill>
              <a:srgbClr val="DDE7E7"/>
            </a:solidFill>
            <a:prstDash val="solid"/>
          </a:ln>
          <a:effectLst>
            <a:outerShdw sx="100000" sy="100000" kx="0" ky="0" algn="bl" rotWithShape="0" blurRad="76200" dist="25400" dir="5400000">
              <a:srgbClr val="17504E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959352" y="17830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4800" b="1" dirty="0">
                <a:solidFill>
                  <a:srgbClr val="1F6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ar-SA" sz="4800" dirty="0"/>
          </a:p>
        </p:txBody>
      </p:sp>
      <p:sp>
        <p:nvSpPr>
          <p:cNvPr id="12" name="Text 10"/>
          <p:cNvSpPr txBox="1"/>
          <p:nvPr/>
        </p:nvSpPr>
        <p:spPr>
          <a:xfrm>
            <a:off x="3959352" y="2651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300" dirty="0">
                <a:solidFill>
                  <a:srgbClr val="6B7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جهة رسمية</a:t>
            </a:r>
            <a:endParaRPr lang="ar-SA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1645920"/>
            <a:ext cx="3136392" cy="4206240"/>
          </a:xfrm>
          <a:prstGeom prst="roundRect">
            <a:avLst>
              <a:gd name="adj" fmla="val 5248"/>
            </a:avLst>
          </a:prstGeom>
          <a:solidFill>
            <a:srgbClr val="FFFFFF"/>
          </a:solidFill>
          <a:ln w="9525">
            <a:solidFill>
              <a:srgbClr val="DDE7E7"/>
            </a:solidFill>
            <a:prstDash val="solid"/>
          </a:ln>
          <a:effectLst>
            <a:outerShdw sx="100000" sy="100000" kx="0" ky="0" algn="bl" rotWithShape="0" blurRad="76200" dist="25400" dir="5400000">
              <a:srgbClr val="17504E">
                <a:alpha val="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77240" y="1874520"/>
            <a:ext cx="267919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ar-SA" altLang="en-US" sz="1400" dirty="0">
                <a:solidFill>
                  <a:srgbClr val="16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خدمة تحمل: الشروط، المستندات، الخطوات، الرسوم، المدة، ورابط القناة الرسمية</a:t>
            </a:r>
            <a:endParaRPr lang="ar-SA" sz="1400" dirty="0"/>
          </a:p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ar-SA" altLang="en-US" sz="1400" dirty="0">
                <a:solidFill>
                  <a:srgbClr val="16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تم التحقق من كل معلومة من الصفحة الرسمية بتاريخ 12 سبتمبر 2026</a:t>
            </a:r>
            <a:endParaRPr lang="ar-SA" sz="1400" dirty="0"/>
          </a:p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ar-SA" altLang="en-US" sz="1400" dirty="0">
                <a:solidFill>
                  <a:srgbClr val="16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معلومة غير مؤكدة حُذفت أو وُسمت بوضوح</a:t>
            </a:r>
            <a:endParaRPr lang="ar-SA" sz="1400" dirty="0"/>
          </a:p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ar-SA" altLang="en-US" sz="1400" dirty="0">
                <a:solidFill>
                  <a:srgbClr val="16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تُعرض روابط المصادر داخل التطبيق في صفحة كل خدمة</a:t>
            </a:r>
            <a:endParaRPr lang="ar-SA" sz="1400" dirty="0"/>
          </a:p>
        </p:txBody>
      </p:sp>
      <p:sp>
        <p:nvSpPr>
          <p:cNvPr id="15" name="Shape 13"/>
          <p:cNvSpPr/>
          <p:nvPr/>
        </p:nvSpPr>
        <p:spPr>
          <a:xfrm>
            <a:off x="3959352" y="3474720"/>
            <a:ext cx="7680960" cy="2377440"/>
          </a:xfrm>
          <a:prstGeom prst="roundRect">
            <a:avLst>
              <a:gd name="adj" fmla="val 6923"/>
            </a:avLst>
          </a:prstGeom>
          <a:solidFill>
            <a:srgbClr val="E3F0EF"/>
          </a:solidFill>
          <a:ln w="9525">
            <a:solidFill>
              <a:srgbClr val="DDE7E7"/>
            </a:solidFill>
            <a:prstDash val="solid"/>
          </a:ln>
          <a:effectLst>
            <a:outerShdw sx="100000" sy="100000" kx="0" ky="0" algn="bl" rotWithShape="0" blurRad="76200" dist="25400" dir="5400000">
              <a:srgbClr val="17504E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4233672" y="3703320"/>
            <a:ext cx="7132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175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مثال: رخصة بلدي تحتاج عقد إيجار موثق ← التطبيق يعرف ذلك من صفحة بلدي الرسمية، فيوجّه المستخدم إلى منصة إيجار قبل التقديم.</a:t>
            </a:r>
            <a:endParaRPr lang="ar-SA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l" indent="0" marL="0">
              <a:buNone/>
            </a:pPr>
            <a:r>
              <a:rPr lang="ar-SA" altLang="en-US" sz="1000" dirty="0">
                <a:solidFill>
                  <a:srgbClr val="6B7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shamal-ai.vercel.app</a:t>
            </a:r>
            <a:endParaRPr lang="ar-SA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7068312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000" dirty="0">
                <a:solidFill>
                  <a:srgbClr val="6B7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شمال AI · ENBTHON 2026 · 6</a:t>
            </a:r>
            <a:endParaRPr lang="ar-SA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75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المصادر الرسمية التي اعتمدنا عليها</a:t>
            </a:r>
            <a:endParaRPr lang="ar-SA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6B7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جهات حكومية سعودية فقط، لا مصادر غير رسمية</a:t>
            </a:r>
            <a:endParaRPr lang="ar-SA" sz="1400" dirty="0"/>
          </a:p>
        </p:txBody>
      </p:sp>
      <p:sp>
        <p:nvSpPr>
          <p:cNvPr id="4" name="Shape 2"/>
          <p:cNvSpPr/>
          <p:nvPr/>
        </p:nvSpPr>
        <p:spPr>
          <a:xfrm>
            <a:off x="6231636" y="1600200"/>
            <a:ext cx="5408676" cy="566928"/>
          </a:xfrm>
          <a:prstGeom prst="roundRect">
            <a:avLst>
              <a:gd name="adj" fmla="val 29032"/>
            </a:avLst>
          </a:prstGeom>
          <a:solidFill>
            <a:srgbClr val="FFFFFF"/>
          </a:solidFill>
          <a:ln w="9525">
            <a:solidFill>
              <a:srgbClr val="DDE7E7"/>
            </a:solidFill>
            <a:prstDash val="solid"/>
          </a:ln>
          <a:effectLst>
            <a:outerShdw sx="100000" sy="100000" kx="0" ky="0" algn="bl" rotWithShape="0" blurRad="76200" dist="25400" dir="5400000">
              <a:srgbClr val="17504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183112" y="1773936"/>
            <a:ext cx="219456" cy="219456"/>
          </a:xfrm>
          <a:prstGeom prst="ellipse">
            <a:avLst/>
          </a:prstGeom>
          <a:solidFill>
            <a:srgbClr val="1F6A68"/>
          </a:solidFill>
          <a:ln w="12700">
            <a:solidFill>
              <a:srgbClr val="1F6A6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883396" y="1709928"/>
            <a:ext cx="22082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75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المنصة الوطنية الموحدة</a:t>
            </a:r>
            <a:endParaRPr lang="ar-SA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60236" y="17099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1000" dirty="0">
                <a:solidFill>
                  <a:srgbClr val="6B7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my.gov.sa</a:t>
            </a:r>
            <a:endParaRPr lang="ar-SA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5408676" cy="566928"/>
          </a:xfrm>
          <a:prstGeom prst="roundRect">
            <a:avLst>
              <a:gd name="adj" fmla="val 29032"/>
            </a:avLst>
          </a:prstGeom>
          <a:solidFill>
            <a:srgbClr val="FFFFFF"/>
          </a:solidFill>
          <a:ln w="9525">
            <a:solidFill>
              <a:srgbClr val="DDE7E7"/>
            </a:solidFill>
            <a:prstDash val="solid"/>
          </a:ln>
          <a:effectLst>
            <a:outerShdw sx="100000" sy="100000" kx="0" ky="0" algn="bl" rotWithShape="0" blurRad="76200" dist="25400" dir="5400000">
              <a:srgbClr val="17504E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500116" y="1773936"/>
            <a:ext cx="219456" cy="219456"/>
          </a:xfrm>
          <a:prstGeom prst="ellipse">
            <a:avLst/>
          </a:prstGeom>
          <a:solidFill>
            <a:srgbClr val="1F6A68"/>
          </a:solidFill>
          <a:ln w="12700">
            <a:solidFill>
              <a:srgbClr val="1F6A6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00400" y="1709928"/>
            <a:ext cx="22082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75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أبشر</a:t>
            </a:r>
            <a:endParaRPr lang="ar-SA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17099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1000" dirty="0">
                <a:solidFill>
                  <a:srgbClr val="6B7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الأحوال المدنية · الجوازات · المرور</a:t>
            </a:r>
            <a:endParaRPr lang="ar-SA" sz="1000" dirty="0"/>
          </a:p>
        </p:txBody>
      </p:sp>
      <p:sp>
        <p:nvSpPr>
          <p:cNvPr id="12" name="Shape 10"/>
          <p:cNvSpPr/>
          <p:nvPr/>
        </p:nvSpPr>
        <p:spPr>
          <a:xfrm>
            <a:off x="6231636" y="2295144"/>
            <a:ext cx="5408676" cy="566928"/>
          </a:xfrm>
          <a:prstGeom prst="roundRect">
            <a:avLst>
              <a:gd name="adj" fmla="val 29032"/>
            </a:avLst>
          </a:prstGeom>
          <a:solidFill>
            <a:srgbClr val="FFFFFF"/>
          </a:solidFill>
          <a:ln w="9525">
            <a:solidFill>
              <a:srgbClr val="DDE7E7"/>
            </a:solidFill>
            <a:prstDash val="solid"/>
          </a:ln>
          <a:effectLst>
            <a:outerShdw sx="100000" sy="100000" kx="0" ky="0" algn="bl" rotWithShape="0" blurRad="76200" dist="25400" dir="5400000">
              <a:srgbClr val="17504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1183112" y="2468880"/>
            <a:ext cx="219456" cy="219456"/>
          </a:xfrm>
          <a:prstGeom prst="ellipse">
            <a:avLst/>
          </a:prstGeom>
          <a:solidFill>
            <a:srgbClr val="1F6A68"/>
          </a:solidFill>
          <a:ln w="12700">
            <a:solidFill>
              <a:srgbClr val="1F6A6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883396" y="2404872"/>
            <a:ext cx="22082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75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المركز السعودي للأعمال</a:t>
            </a:r>
            <a:endParaRPr lang="ar-SA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60236" y="240487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1000" dirty="0">
                <a:solidFill>
                  <a:srgbClr val="6B7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وزارة التجارة · السجل التجاري</a:t>
            </a:r>
            <a:endParaRPr lang="ar-SA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295144"/>
            <a:ext cx="5408676" cy="566928"/>
          </a:xfrm>
          <a:prstGeom prst="roundRect">
            <a:avLst>
              <a:gd name="adj" fmla="val 29032"/>
            </a:avLst>
          </a:prstGeom>
          <a:solidFill>
            <a:srgbClr val="FFFFFF"/>
          </a:solidFill>
          <a:ln w="9525">
            <a:solidFill>
              <a:srgbClr val="DDE7E7"/>
            </a:solidFill>
            <a:prstDash val="solid"/>
          </a:ln>
          <a:effectLst>
            <a:outerShdw sx="100000" sy="100000" kx="0" ky="0" algn="bl" rotWithShape="0" blurRad="76200" dist="25400" dir="5400000">
              <a:srgbClr val="17504E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500116" y="2468880"/>
            <a:ext cx="219456" cy="219456"/>
          </a:xfrm>
          <a:prstGeom prst="ellipse">
            <a:avLst/>
          </a:prstGeom>
          <a:solidFill>
            <a:srgbClr val="1F6A68"/>
          </a:solidFill>
          <a:ln w="12700">
            <a:solidFill>
              <a:srgbClr val="1F6A6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200400" y="2404872"/>
            <a:ext cx="22082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75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منصة بلدي</a:t>
            </a:r>
            <a:endParaRPr lang="ar-SA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240487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1000" dirty="0">
                <a:solidFill>
                  <a:srgbClr val="6B7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رخص الأنشطة التجارية</a:t>
            </a:r>
            <a:endParaRPr lang="ar-SA" sz="1000" dirty="0"/>
          </a:p>
        </p:txBody>
      </p:sp>
      <p:sp>
        <p:nvSpPr>
          <p:cNvPr id="20" name="Shape 18"/>
          <p:cNvSpPr/>
          <p:nvPr/>
        </p:nvSpPr>
        <p:spPr>
          <a:xfrm>
            <a:off x="6231636" y="2990088"/>
            <a:ext cx="5408676" cy="566928"/>
          </a:xfrm>
          <a:prstGeom prst="roundRect">
            <a:avLst>
              <a:gd name="adj" fmla="val 29032"/>
            </a:avLst>
          </a:prstGeom>
          <a:solidFill>
            <a:srgbClr val="FFFFFF"/>
          </a:solidFill>
          <a:ln w="9525">
            <a:solidFill>
              <a:srgbClr val="DDE7E7"/>
            </a:solidFill>
            <a:prstDash val="solid"/>
          </a:ln>
          <a:effectLst>
            <a:outerShdw sx="100000" sy="100000" kx="0" ky="0" algn="bl" rotWithShape="0" blurRad="76200" dist="25400" dir="5400000">
              <a:srgbClr val="17504E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1183112" y="3163824"/>
            <a:ext cx="219456" cy="219456"/>
          </a:xfrm>
          <a:prstGeom prst="ellipse">
            <a:avLst/>
          </a:prstGeom>
          <a:solidFill>
            <a:srgbClr val="1F6A68"/>
          </a:solidFill>
          <a:ln w="12700">
            <a:solidFill>
              <a:srgbClr val="1F6A6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883396" y="3099816"/>
            <a:ext cx="22082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75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منصة إيجار</a:t>
            </a:r>
            <a:endParaRPr lang="ar-SA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460236" y="309981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1000" dirty="0">
                <a:solidFill>
                  <a:srgbClr val="6B7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العقود السكنية والتجارية</a:t>
            </a:r>
            <a:endParaRPr lang="ar-SA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2990088"/>
            <a:ext cx="5408676" cy="566928"/>
          </a:xfrm>
          <a:prstGeom prst="roundRect">
            <a:avLst>
              <a:gd name="adj" fmla="val 29032"/>
            </a:avLst>
          </a:prstGeom>
          <a:solidFill>
            <a:srgbClr val="FFFFFF"/>
          </a:solidFill>
          <a:ln w="9525">
            <a:solidFill>
              <a:srgbClr val="DDE7E7"/>
            </a:solidFill>
            <a:prstDash val="solid"/>
          </a:ln>
          <a:effectLst>
            <a:outerShdw sx="100000" sy="100000" kx="0" ky="0" algn="bl" rotWithShape="0" blurRad="76200" dist="25400" dir="5400000">
              <a:srgbClr val="17504E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500116" y="3163824"/>
            <a:ext cx="219456" cy="219456"/>
          </a:xfrm>
          <a:prstGeom prst="ellipse">
            <a:avLst/>
          </a:prstGeom>
          <a:solidFill>
            <a:srgbClr val="1F6A68"/>
          </a:solidFill>
          <a:ln w="12700">
            <a:solidFill>
              <a:srgbClr val="1F6A6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200400" y="3099816"/>
            <a:ext cx="22082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75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هيئة الزكاة والضريبة والجمارك</a:t>
            </a:r>
            <a:endParaRPr lang="ar-SA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77240" y="309981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1000" dirty="0">
                <a:solidFill>
                  <a:srgbClr val="6B7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الزكاة وضريبة القيمة المضافة</a:t>
            </a:r>
            <a:endParaRPr lang="ar-SA" sz="1000" dirty="0"/>
          </a:p>
        </p:txBody>
      </p:sp>
      <p:sp>
        <p:nvSpPr>
          <p:cNvPr id="28" name="Shape 26"/>
          <p:cNvSpPr/>
          <p:nvPr/>
        </p:nvSpPr>
        <p:spPr>
          <a:xfrm>
            <a:off x="6231636" y="3685032"/>
            <a:ext cx="5408676" cy="566928"/>
          </a:xfrm>
          <a:prstGeom prst="roundRect">
            <a:avLst>
              <a:gd name="adj" fmla="val 29032"/>
            </a:avLst>
          </a:prstGeom>
          <a:solidFill>
            <a:srgbClr val="FFFFFF"/>
          </a:solidFill>
          <a:ln w="9525">
            <a:solidFill>
              <a:srgbClr val="DDE7E7"/>
            </a:solidFill>
            <a:prstDash val="solid"/>
          </a:ln>
          <a:effectLst>
            <a:outerShdw sx="100000" sy="100000" kx="0" ky="0" algn="bl" rotWithShape="0" blurRad="76200" dist="25400" dir="5400000">
              <a:srgbClr val="17504E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1183112" y="3858768"/>
            <a:ext cx="219456" cy="219456"/>
          </a:xfrm>
          <a:prstGeom prst="ellipse">
            <a:avLst/>
          </a:prstGeom>
          <a:solidFill>
            <a:srgbClr val="1F6A68"/>
          </a:solidFill>
          <a:ln w="12700">
            <a:solidFill>
              <a:srgbClr val="1F6A6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883396" y="3794760"/>
            <a:ext cx="22082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75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التأمينات الاجتماعية</a:t>
            </a:r>
            <a:endParaRPr lang="ar-SA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460236" y="3794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1000" dirty="0">
                <a:solidFill>
                  <a:srgbClr val="6B7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تسجيل المنشآت والمشتركين</a:t>
            </a:r>
            <a:endParaRPr lang="ar-SA" sz="1000" dirty="0"/>
          </a:p>
        </p:txBody>
      </p:sp>
      <p:sp>
        <p:nvSpPr>
          <p:cNvPr id="32" name="Shape 30"/>
          <p:cNvSpPr/>
          <p:nvPr/>
        </p:nvSpPr>
        <p:spPr>
          <a:xfrm>
            <a:off x="548640" y="3685032"/>
            <a:ext cx="5408676" cy="566928"/>
          </a:xfrm>
          <a:prstGeom prst="roundRect">
            <a:avLst>
              <a:gd name="adj" fmla="val 29032"/>
            </a:avLst>
          </a:prstGeom>
          <a:solidFill>
            <a:srgbClr val="FFFFFF"/>
          </a:solidFill>
          <a:ln w="9525">
            <a:solidFill>
              <a:srgbClr val="DDE7E7"/>
            </a:solidFill>
            <a:prstDash val="solid"/>
          </a:ln>
          <a:effectLst>
            <a:outerShdw sx="100000" sy="100000" kx="0" ky="0" algn="bl" rotWithShape="0" blurRad="76200" dist="25400" dir="5400000">
              <a:srgbClr val="17504E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500116" y="3858768"/>
            <a:ext cx="219456" cy="219456"/>
          </a:xfrm>
          <a:prstGeom prst="ellipse">
            <a:avLst/>
          </a:prstGeom>
          <a:solidFill>
            <a:srgbClr val="1F6A68"/>
          </a:solidFill>
          <a:ln w="12700">
            <a:solidFill>
              <a:srgbClr val="1F6A6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200400" y="3794760"/>
            <a:ext cx="22082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75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قوى · مدد</a:t>
            </a:r>
            <a:endParaRPr lang="ar-SA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777240" y="3794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1000" dirty="0">
                <a:solidFill>
                  <a:srgbClr val="6B7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العمالة وحماية الأجور</a:t>
            </a:r>
            <a:endParaRPr lang="ar-SA" sz="1000" dirty="0"/>
          </a:p>
        </p:txBody>
      </p:sp>
      <p:sp>
        <p:nvSpPr>
          <p:cNvPr id="36" name="Shape 34"/>
          <p:cNvSpPr/>
          <p:nvPr/>
        </p:nvSpPr>
        <p:spPr>
          <a:xfrm>
            <a:off x="6231636" y="4379976"/>
            <a:ext cx="5408676" cy="566928"/>
          </a:xfrm>
          <a:prstGeom prst="roundRect">
            <a:avLst>
              <a:gd name="adj" fmla="val 29032"/>
            </a:avLst>
          </a:prstGeom>
          <a:solidFill>
            <a:srgbClr val="FFFFFF"/>
          </a:solidFill>
          <a:ln w="9525">
            <a:solidFill>
              <a:srgbClr val="DDE7E7"/>
            </a:solidFill>
            <a:prstDash val="solid"/>
          </a:ln>
          <a:effectLst>
            <a:outerShdw sx="100000" sy="100000" kx="0" ky="0" algn="bl" rotWithShape="0" blurRad="76200" dist="25400" dir="5400000">
              <a:srgbClr val="17504E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11183112" y="4553712"/>
            <a:ext cx="219456" cy="219456"/>
          </a:xfrm>
          <a:prstGeom prst="ellipse">
            <a:avLst/>
          </a:prstGeom>
          <a:solidFill>
            <a:srgbClr val="1F6A68"/>
          </a:solidFill>
          <a:ln w="12700">
            <a:solidFill>
              <a:srgbClr val="1F6A6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883396" y="4489704"/>
            <a:ext cx="22082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75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الهيئة السعودية للملكية الفكرية</a:t>
            </a:r>
            <a:endParaRPr lang="ar-SA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6460236" y="448970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1000" dirty="0">
                <a:solidFill>
                  <a:srgbClr val="6B7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العلامات التجارية</a:t>
            </a:r>
            <a:endParaRPr lang="ar-SA" sz="1000" dirty="0"/>
          </a:p>
        </p:txBody>
      </p:sp>
      <p:sp>
        <p:nvSpPr>
          <p:cNvPr id="40" name="Shape 38"/>
          <p:cNvSpPr/>
          <p:nvPr/>
        </p:nvSpPr>
        <p:spPr>
          <a:xfrm>
            <a:off x="548640" y="4379976"/>
            <a:ext cx="5408676" cy="566928"/>
          </a:xfrm>
          <a:prstGeom prst="roundRect">
            <a:avLst>
              <a:gd name="adj" fmla="val 29032"/>
            </a:avLst>
          </a:prstGeom>
          <a:solidFill>
            <a:srgbClr val="FFFFFF"/>
          </a:solidFill>
          <a:ln w="9525">
            <a:solidFill>
              <a:srgbClr val="DDE7E7"/>
            </a:solidFill>
            <a:prstDash val="solid"/>
          </a:ln>
          <a:effectLst>
            <a:outerShdw sx="100000" sy="100000" kx="0" ky="0" algn="bl" rotWithShape="0" blurRad="76200" dist="25400" dir="5400000">
              <a:srgbClr val="17504E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500116" y="4553712"/>
            <a:ext cx="219456" cy="219456"/>
          </a:xfrm>
          <a:prstGeom prst="ellipse">
            <a:avLst/>
          </a:prstGeom>
          <a:solidFill>
            <a:srgbClr val="1F6A68"/>
          </a:solidFill>
          <a:ln w="12700">
            <a:solidFill>
              <a:srgbClr val="1F6A68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3200400" y="4489704"/>
            <a:ext cx="22082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75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منصة العمل الحر · منشآت</a:t>
            </a:r>
            <a:endParaRPr lang="ar-SA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777240" y="448970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1000" dirty="0">
                <a:solidFill>
                  <a:srgbClr val="6B7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وثيقة العمل الحر ودعم المنشآت</a:t>
            </a:r>
            <a:endParaRPr lang="ar-SA" sz="1000" dirty="0"/>
          </a:p>
        </p:txBody>
      </p:sp>
      <p:sp>
        <p:nvSpPr>
          <p:cNvPr id="44" name="Shape 42"/>
          <p:cNvSpPr/>
          <p:nvPr/>
        </p:nvSpPr>
        <p:spPr>
          <a:xfrm>
            <a:off x="6231636" y="5074920"/>
            <a:ext cx="5408676" cy="566928"/>
          </a:xfrm>
          <a:prstGeom prst="roundRect">
            <a:avLst>
              <a:gd name="adj" fmla="val 29032"/>
            </a:avLst>
          </a:prstGeom>
          <a:solidFill>
            <a:srgbClr val="FFFFFF"/>
          </a:solidFill>
          <a:ln w="9525">
            <a:solidFill>
              <a:srgbClr val="DDE7E7"/>
            </a:solidFill>
            <a:prstDash val="solid"/>
          </a:ln>
          <a:effectLst>
            <a:outerShdw sx="100000" sy="100000" kx="0" ky="0" algn="bl" rotWithShape="0" blurRad="76200" dist="25400" dir="5400000">
              <a:srgbClr val="17504E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11183112" y="5248656"/>
            <a:ext cx="219456" cy="219456"/>
          </a:xfrm>
          <a:prstGeom prst="ellipse">
            <a:avLst/>
          </a:prstGeom>
          <a:solidFill>
            <a:srgbClr val="1F6A68"/>
          </a:solidFill>
          <a:ln w="12700">
            <a:solidFill>
              <a:srgbClr val="1F6A68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883396" y="5184648"/>
            <a:ext cx="22082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75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وزارة الخارجية</a:t>
            </a:r>
            <a:endParaRPr lang="ar-SA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6460236" y="51846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1000" dirty="0">
                <a:solidFill>
                  <a:srgbClr val="6B7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منصة التأشيرات</a:t>
            </a:r>
            <a:endParaRPr lang="ar-SA" sz="1000" dirty="0"/>
          </a:p>
        </p:txBody>
      </p:sp>
      <p:sp>
        <p:nvSpPr>
          <p:cNvPr id="48" name="Shape 46"/>
          <p:cNvSpPr/>
          <p:nvPr/>
        </p:nvSpPr>
        <p:spPr>
          <a:xfrm>
            <a:off x="548640" y="5074920"/>
            <a:ext cx="5408676" cy="566928"/>
          </a:xfrm>
          <a:prstGeom prst="roundRect">
            <a:avLst>
              <a:gd name="adj" fmla="val 29032"/>
            </a:avLst>
          </a:prstGeom>
          <a:solidFill>
            <a:srgbClr val="FFFFFF"/>
          </a:solidFill>
          <a:ln w="9525">
            <a:solidFill>
              <a:srgbClr val="DDE7E7"/>
            </a:solidFill>
            <a:prstDash val="solid"/>
          </a:ln>
          <a:effectLst>
            <a:outerShdw sx="100000" sy="100000" kx="0" ky="0" algn="bl" rotWithShape="0" blurRad="76200" dist="25400" dir="5400000">
              <a:srgbClr val="17504E">
                <a:alpha val="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5500116" y="5248656"/>
            <a:ext cx="219456" cy="219456"/>
          </a:xfrm>
          <a:prstGeom prst="ellipse">
            <a:avLst/>
          </a:prstGeom>
          <a:solidFill>
            <a:srgbClr val="1F6A68"/>
          </a:solidFill>
          <a:ln w="12700">
            <a:solidFill>
              <a:srgbClr val="1F6A68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3200400" y="5184648"/>
            <a:ext cx="22082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75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سبل</a:t>
            </a:r>
            <a:endParaRPr lang="ar-SA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777240" y="51846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1000" dirty="0">
                <a:solidFill>
                  <a:srgbClr val="6B7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العنوان الوطني</a:t>
            </a:r>
            <a:endParaRPr lang="ar-SA" sz="1000" dirty="0"/>
          </a:p>
        </p:txBody>
      </p:sp>
      <p:sp>
        <p:nvSpPr>
          <p:cNvPr id="52" name="Shape 50"/>
          <p:cNvSpPr/>
          <p:nvPr/>
        </p:nvSpPr>
        <p:spPr>
          <a:xfrm>
            <a:off x="6231636" y="5769864"/>
            <a:ext cx="5408676" cy="566928"/>
          </a:xfrm>
          <a:prstGeom prst="roundRect">
            <a:avLst>
              <a:gd name="adj" fmla="val 29032"/>
            </a:avLst>
          </a:prstGeom>
          <a:solidFill>
            <a:srgbClr val="FFFFFF"/>
          </a:solidFill>
          <a:ln w="9525">
            <a:solidFill>
              <a:srgbClr val="DDE7E7"/>
            </a:solidFill>
            <a:prstDash val="solid"/>
          </a:ln>
          <a:effectLst>
            <a:outerShdw sx="100000" sy="100000" kx="0" ky="0" algn="bl" rotWithShape="0" blurRad="76200" dist="25400" dir="5400000">
              <a:srgbClr val="17504E">
                <a:alpha val="8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11183112" y="5943600"/>
            <a:ext cx="219456" cy="219456"/>
          </a:xfrm>
          <a:prstGeom prst="ellipse">
            <a:avLst/>
          </a:prstGeom>
          <a:solidFill>
            <a:srgbClr val="1F6A68"/>
          </a:solidFill>
          <a:ln w="12700">
            <a:solidFill>
              <a:srgbClr val="1F6A68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8883396" y="5879592"/>
            <a:ext cx="22082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75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صحتي</a:t>
            </a:r>
            <a:endParaRPr lang="ar-SA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6460236" y="587959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1000" dirty="0">
                <a:solidFill>
                  <a:srgbClr val="6B7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المواعيد الطبية</a:t>
            </a:r>
            <a:endParaRPr lang="ar-SA" sz="1000" dirty="0"/>
          </a:p>
        </p:txBody>
      </p:sp>
      <p:sp>
        <p:nvSpPr>
          <p:cNvPr id="56" name="Shape 54"/>
          <p:cNvSpPr/>
          <p:nvPr/>
        </p:nvSpPr>
        <p:spPr>
          <a:xfrm>
            <a:off x="548640" y="5769864"/>
            <a:ext cx="5408676" cy="566928"/>
          </a:xfrm>
          <a:prstGeom prst="roundRect">
            <a:avLst>
              <a:gd name="adj" fmla="val 29032"/>
            </a:avLst>
          </a:prstGeom>
          <a:solidFill>
            <a:srgbClr val="FFFFFF"/>
          </a:solidFill>
          <a:ln w="9525">
            <a:solidFill>
              <a:srgbClr val="DDE7E7"/>
            </a:solidFill>
            <a:prstDash val="solid"/>
          </a:ln>
          <a:effectLst>
            <a:outerShdw sx="100000" sy="100000" kx="0" ky="0" algn="bl" rotWithShape="0" blurRad="76200" dist="25400" dir="5400000">
              <a:srgbClr val="17504E">
                <a:alpha val="8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5500116" y="5943600"/>
            <a:ext cx="219456" cy="219456"/>
          </a:xfrm>
          <a:prstGeom prst="ellipse">
            <a:avLst/>
          </a:prstGeom>
          <a:solidFill>
            <a:srgbClr val="1F6A68"/>
          </a:solidFill>
          <a:ln w="12700">
            <a:solidFill>
              <a:srgbClr val="1F6A68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3200400" y="5879592"/>
            <a:ext cx="22082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75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وزارة الموارد البشرية</a:t>
            </a:r>
            <a:endParaRPr lang="ar-SA" sz="1300" dirty="0"/>
          </a:p>
        </p:txBody>
      </p:sp>
      <p:sp>
        <p:nvSpPr>
          <p:cNvPr id="59" name="Text 57"/>
          <p:cNvSpPr txBox="1"/>
          <p:nvPr/>
        </p:nvSpPr>
        <p:spPr>
          <a:xfrm>
            <a:off x="777240" y="587959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1000" dirty="0">
                <a:solidFill>
                  <a:srgbClr val="6B7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الضمان الاجتماعي · ذوي الإعاقة</a:t>
            </a:r>
            <a:endParaRPr lang="ar-SA" sz="1000" dirty="0"/>
          </a:p>
        </p:txBody>
      </p:sp>
      <p:sp>
        <p:nvSpPr>
          <p:cNvPr id="60" name="Text 58"/>
          <p:cNvSpPr txBox="1"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l" indent="0" marL="0">
              <a:buNone/>
            </a:pPr>
            <a:r>
              <a:rPr lang="ar-SA" altLang="en-US" sz="1000" dirty="0">
                <a:solidFill>
                  <a:srgbClr val="6B7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shamal-ai.vercel.app</a:t>
            </a:r>
            <a:endParaRPr lang="ar-SA" sz="1000" dirty="0"/>
          </a:p>
        </p:txBody>
      </p:sp>
      <p:sp>
        <p:nvSpPr>
          <p:cNvPr id="61" name="Text 59"/>
          <p:cNvSpPr txBox="1"/>
          <p:nvPr/>
        </p:nvSpPr>
        <p:spPr>
          <a:xfrm>
            <a:off x="7068312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000" dirty="0">
                <a:solidFill>
                  <a:srgbClr val="6B7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شمال AI · ENBTHON 2026 · 7</a:t>
            </a:r>
            <a:endParaRPr lang="ar-SA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75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موارد التصميم والأدوات</a:t>
            </a:r>
            <a:endParaRPr lang="ar-SA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6B7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استخدمناه لبناء الشكل والجودة</a:t>
            </a:r>
            <a:endParaRPr lang="ar-SA" sz="1400" dirty="0"/>
          </a:p>
        </p:txBody>
      </p:sp>
      <p:sp>
        <p:nvSpPr>
          <p:cNvPr id="4" name="Shape 2"/>
          <p:cNvSpPr/>
          <p:nvPr/>
        </p:nvSpPr>
        <p:spPr>
          <a:xfrm>
            <a:off x="8125968" y="1645920"/>
            <a:ext cx="3514344" cy="192024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DDE7E7"/>
            </a:solidFill>
            <a:prstDash val="solid"/>
          </a:ln>
          <a:effectLst>
            <a:outerShdw sx="100000" sy="100000" kx="0" ky="0" algn="bl" rotWithShape="0" blurRad="76200" dist="25400" dir="5400000">
              <a:srgbClr val="17504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680192" y="187452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E4F0EA"/>
          </a:solidFill>
          <a:ln w="12700">
            <a:solidFill>
              <a:srgbClr val="E4F0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54568" y="2697480"/>
            <a:ext cx="3057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rgbClr val="175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Pexels</a:t>
            </a:r>
            <a:endParaRPr lang="ar-SA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354568" y="3063240"/>
            <a:ext cx="3057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6B7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صور مجانية لجبال طويق والصحراء السعودية (رخصة استخدام حر)</a:t>
            </a:r>
            <a:endParaRPr lang="ar-SA" sz="1100" dirty="0"/>
          </a:p>
        </p:txBody>
      </p:sp>
      <p:sp>
        <p:nvSpPr>
          <p:cNvPr id="8" name="Shape 6"/>
          <p:cNvSpPr/>
          <p:nvPr/>
        </p:nvSpPr>
        <p:spPr>
          <a:xfrm>
            <a:off x="4337304" y="1645920"/>
            <a:ext cx="3514344" cy="192024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DDE7E7"/>
            </a:solidFill>
            <a:prstDash val="solid"/>
          </a:ln>
          <a:effectLst>
            <a:outerShdw sx="100000" sy="100000" kx="0" ky="0" algn="bl" rotWithShape="0" blurRad="76200" dist="25400" dir="5400000">
              <a:srgbClr val="17504E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891528" y="187452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E4EDF5"/>
          </a:solidFill>
          <a:ln w="12700">
            <a:solidFill>
              <a:srgbClr val="E4ED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65904" y="2697480"/>
            <a:ext cx="3057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rgbClr val="175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Lucide</a:t>
            </a:r>
            <a:endParaRPr lang="ar-SA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565904" y="3063240"/>
            <a:ext cx="3057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6B7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مكتبة أيقونات مفتوحة المصدر لكل خدمة</a:t>
            </a:r>
            <a:endParaRPr lang="ar-SA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1645920"/>
            <a:ext cx="3514344" cy="192024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DDE7E7"/>
            </a:solidFill>
            <a:prstDash val="solid"/>
          </a:ln>
          <a:effectLst>
            <a:outerShdw sx="100000" sy="100000" kx="0" ky="0" algn="bl" rotWithShape="0" blurRad="76200" dist="25400" dir="5400000">
              <a:srgbClr val="17504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02864" y="187452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EBE7F4"/>
          </a:solidFill>
          <a:ln w="12700">
            <a:solidFill>
              <a:srgbClr val="EBE7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2697480"/>
            <a:ext cx="3057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rgbClr val="175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Plex Sans Arabic</a:t>
            </a:r>
            <a:endParaRPr lang="ar-SA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3063240"/>
            <a:ext cx="3057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6B7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خط عربي من Google Fonts واضح على الجوال</a:t>
            </a:r>
            <a:endParaRPr lang="ar-SA" sz="1100" dirty="0"/>
          </a:p>
        </p:txBody>
      </p:sp>
      <p:sp>
        <p:nvSpPr>
          <p:cNvPr id="16" name="Shape 14"/>
          <p:cNvSpPr/>
          <p:nvPr/>
        </p:nvSpPr>
        <p:spPr>
          <a:xfrm>
            <a:off x="8125968" y="3840480"/>
            <a:ext cx="3514344" cy="192024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DDE7E7"/>
            </a:solidFill>
            <a:prstDash val="solid"/>
          </a:ln>
          <a:effectLst>
            <a:outerShdw sx="100000" sy="100000" kx="0" ky="0" algn="bl" rotWithShape="0" blurRad="76200" dist="25400" dir="5400000">
              <a:srgbClr val="17504E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0680192" y="406908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54568" y="4892040"/>
            <a:ext cx="3057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rgbClr val="175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شعار متجهي SVG</a:t>
            </a:r>
            <a:endParaRPr lang="ar-SA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354568" y="5257800"/>
            <a:ext cx="3057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6B7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أُعيد رسم شعار شمال بجودة غير محدودة</a:t>
            </a:r>
            <a:endParaRPr lang="ar-SA" sz="1100" dirty="0"/>
          </a:p>
        </p:txBody>
      </p:sp>
      <p:sp>
        <p:nvSpPr>
          <p:cNvPr id="20" name="Shape 18"/>
          <p:cNvSpPr/>
          <p:nvPr/>
        </p:nvSpPr>
        <p:spPr>
          <a:xfrm>
            <a:off x="4337304" y="3840480"/>
            <a:ext cx="3514344" cy="192024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DDE7E7"/>
            </a:solidFill>
            <a:prstDash val="solid"/>
          </a:ln>
          <a:effectLst>
            <a:outerShdw sx="100000" sy="100000" kx="0" ky="0" algn="bl" rotWithShape="0" blurRad="76200" dist="25400" dir="5400000">
              <a:srgbClr val="17504E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91528" y="406908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E3F0EF"/>
          </a:solidFill>
          <a:ln w="12700">
            <a:solidFill>
              <a:srgbClr val="E3F0E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65904" y="4892040"/>
            <a:ext cx="3057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rgbClr val="175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· GitHub</a:t>
            </a:r>
            <a:endParaRPr lang="ar-SA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4565904" y="5257800"/>
            <a:ext cx="3057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6B7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حفظ الكود وتتبع كل تعديل</a:t>
            </a:r>
            <a:endParaRPr lang="ar-SA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840480"/>
            <a:ext cx="3514344" cy="192024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DDE7E7"/>
            </a:solidFill>
            <a:prstDash val="solid"/>
          </a:ln>
          <a:effectLst>
            <a:outerShdw sx="100000" sy="100000" kx="0" ky="0" algn="bl" rotWithShape="0" blurRad="76200" dist="25400" dir="5400000">
              <a:srgbClr val="17504E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02864" y="406908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E4F0EA"/>
          </a:solidFill>
          <a:ln w="12700">
            <a:solidFill>
              <a:srgbClr val="E4F0E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7240" y="4892040"/>
            <a:ext cx="3057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rgbClr val="175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اختبارات آلية</a:t>
            </a:r>
            <a:endParaRPr lang="ar-SA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77240" y="5257800"/>
            <a:ext cx="3057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6B7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اختباراً لمحرك الرحلة وفحص سلامة قاعدة المعرفة</a:t>
            </a:r>
            <a:endParaRPr lang="ar-SA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l" indent="0" marL="0">
              <a:buNone/>
            </a:pPr>
            <a:r>
              <a:rPr lang="ar-SA" altLang="en-US" sz="1000" dirty="0">
                <a:solidFill>
                  <a:srgbClr val="6B7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shamal-ai.vercel.app</a:t>
            </a:r>
            <a:endParaRPr lang="ar-SA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7068312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000" dirty="0">
                <a:solidFill>
                  <a:srgbClr val="6B7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شمال AI · ENBTHON 2026 · 8</a:t>
            </a:r>
            <a:endParaRPr lang="ar-SA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75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هذه التقنيات؟</a:t>
            </a:r>
            <a:endParaRPr lang="ar-SA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6B7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قرارات عملية لهاكاثون قصير ومنتج قابل للتوسع</a:t>
            </a:r>
            <a:endParaRPr lang="ar-SA" sz="1400" dirty="0"/>
          </a:p>
        </p:txBody>
      </p:sp>
      <p:sp>
        <p:nvSpPr>
          <p:cNvPr id="4" name="Shape 2"/>
          <p:cNvSpPr/>
          <p:nvPr/>
        </p:nvSpPr>
        <p:spPr>
          <a:xfrm>
            <a:off x="6231636" y="1600200"/>
            <a:ext cx="5408676" cy="1143000"/>
          </a:xfrm>
          <a:prstGeom prst="roundRect">
            <a:avLst>
              <a:gd name="adj" fmla="val 14400"/>
            </a:avLst>
          </a:prstGeom>
          <a:solidFill>
            <a:srgbClr val="FFFFFF"/>
          </a:solidFill>
          <a:ln w="9525">
            <a:solidFill>
              <a:srgbClr val="DDE7E7"/>
            </a:solidFill>
            <a:prstDash val="solid"/>
          </a:ln>
          <a:effectLst>
            <a:outerShdw sx="100000" sy="100000" kx="0" ky="0" algn="bl" rotWithShape="0" blurRad="76200" dist="25400" dir="5400000">
              <a:srgbClr val="17504E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505956" y="1783080"/>
            <a:ext cx="48600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rgbClr val="175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سرعة البناء</a:t>
            </a:r>
            <a:endParaRPr lang="ar-SA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505956" y="2221992"/>
            <a:ext cx="48600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6B7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الفكرة إلى رابط حي في أيام</a:t>
            </a:r>
            <a:endParaRPr lang="ar-SA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5408676" cy="1143000"/>
          </a:xfrm>
          <a:prstGeom prst="roundRect">
            <a:avLst>
              <a:gd name="adj" fmla="val 14400"/>
            </a:avLst>
          </a:prstGeom>
          <a:solidFill>
            <a:srgbClr val="FFFFFF"/>
          </a:solidFill>
          <a:ln w="9525">
            <a:solidFill>
              <a:srgbClr val="DDE7E7"/>
            </a:solidFill>
            <a:prstDash val="solid"/>
          </a:ln>
          <a:effectLst>
            <a:outerShdw sx="100000" sy="100000" kx="0" ky="0" algn="bl" rotWithShape="0" blurRad="76200" dist="25400" dir="5400000">
              <a:srgbClr val="17504E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1783080"/>
            <a:ext cx="48600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rgbClr val="175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💸 تكلفة صفر</a:t>
            </a:r>
            <a:endParaRPr lang="ar-SA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221992"/>
            <a:ext cx="48600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6B7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الأدوات مجانية أو بخطط مجانية</a:t>
            </a:r>
            <a:endParaRPr lang="ar-SA" sz="1200" dirty="0"/>
          </a:p>
        </p:txBody>
      </p:sp>
      <p:sp>
        <p:nvSpPr>
          <p:cNvPr id="10" name="Shape 8"/>
          <p:cNvSpPr/>
          <p:nvPr/>
        </p:nvSpPr>
        <p:spPr>
          <a:xfrm>
            <a:off x="6231636" y="2944368"/>
            <a:ext cx="5408676" cy="1143000"/>
          </a:xfrm>
          <a:prstGeom prst="roundRect">
            <a:avLst>
              <a:gd name="adj" fmla="val 14400"/>
            </a:avLst>
          </a:prstGeom>
          <a:solidFill>
            <a:srgbClr val="FFFFFF"/>
          </a:solidFill>
          <a:ln w="9525">
            <a:solidFill>
              <a:srgbClr val="DDE7E7"/>
            </a:solidFill>
            <a:prstDash val="solid"/>
          </a:ln>
          <a:effectLst>
            <a:outerShdw sx="100000" sy="100000" kx="0" ky="0" algn="bl" rotWithShape="0" blurRad="76200" dist="25400" dir="5400000">
              <a:srgbClr val="17504E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505956" y="3127248"/>
            <a:ext cx="48600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rgbClr val="175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سهولة التوسع</a:t>
            </a:r>
            <a:endParaRPr lang="ar-SA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505956" y="3566160"/>
            <a:ext cx="48600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6B7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إضافة خدمة جديدة = ملف بيانات واحد</a:t>
            </a:r>
            <a:endParaRPr lang="ar-SA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944368"/>
            <a:ext cx="5408676" cy="1143000"/>
          </a:xfrm>
          <a:prstGeom prst="roundRect">
            <a:avLst>
              <a:gd name="adj" fmla="val 14400"/>
            </a:avLst>
          </a:prstGeom>
          <a:solidFill>
            <a:srgbClr val="FFFFFF"/>
          </a:solidFill>
          <a:ln w="9525">
            <a:solidFill>
              <a:srgbClr val="DDE7E7"/>
            </a:solidFill>
            <a:prstDash val="solid"/>
          </a:ln>
          <a:effectLst>
            <a:outerShdw sx="100000" sy="100000" kx="0" ky="0" algn="bl" rotWithShape="0" blurRad="76200" dist="25400" dir="5400000">
              <a:srgbClr val="17504E">
                <a:alpha val="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22960" y="3127248"/>
            <a:ext cx="48600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rgbClr val="175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 الأمان</a:t>
            </a:r>
            <a:endParaRPr lang="ar-SA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3566160"/>
            <a:ext cx="48600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6B7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تشفير كلمات المرور وجلسات موقّعة وبيانات معزولة لكل مستخدم</a:t>
            </a:r>
            <a:endParaRPr lang="ar-SA" sz="1200" dirty="0"/>
          </a:p>
        </p:txBody>
      </p:sp>
      <p:sp>
        <p:nvSpPr>
          <p:cNvPr id="16" name="Shape 14"/>
          <p:cNvSpPr/>
          <p:nvPr/>
        </p:nvSpPr>
        <p:spPr>
          <a:xfrm>
            <a:off x="6231636" y="4288536"/>
            <a:ext cx="5408676" cy="1143000"/>
          </a:xfrm>
          <a:prstGeom prst="roundRect">
            <a:avLst>
              <a:gd name="adj" fmla="val 14400"/>
            </a:avLst>
          </a:prstGeom>
          <a:solidFill>
            <a:srgbClr val="FFFFFF"/>
          </a:solidFill>
          <a:ln w="9525">
            <a:solidFill>
              <a:srgbClr val="DDE7E7"/>
            </a:solidFill>
            <a:prstDash val="solid"/>
          </a:ln>
          <a:effectLst>
            <a:outerShdw sx="100000" sy="100000" kx="0" ky="0" algn="bl" rotWithShape="0" blurRad="76200" dist="25400" dir="5400000">
              <a:srgbClr val="17504E">
                <a:alpha val="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505956" y="4471416"/>
            <a:ext cx="48600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rgbClr val="175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🏛️ القنوات الرسمية</a:t>
            </a:r>
            <a:endParaRPr lang="ar-SA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505956" y="4910328"/>
            <a:ext cx="48600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6B7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طبقة ذكية فوق الخدمات القائمة بدل بناء بوابة جديدة</a:t>
            </a:r>
            <a:endParaRPr lang="ar-SA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288536"/>
            <a:ext cx="5408676" cy="1143000"/>
          </a:xfrm>
          <a:prstGeom prst="roundRect">
            <a:avLst>
              <a:gd name="adj" fmla="val 14400"/>
            </a:avLst>
          </a:prstGeom>
          <a:solidFill>
            <a:srgbClr val="1F6A68"/>
          </a:solidFill>
          <a:ln w="12700">
            <a:solidFill>
              <a:srgbClr val="1F6A6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4471416"/>
            <a:ext cx="48600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شمال AI: من احتياجك .. إلى خطوتك التالية</a:t>
            </a:r>
            <a:endParaRPr lang="ar-SA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4946904"/>
            <a:ext cx="4860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l" indent="0" marL="0">
              <a:buNone/>
            </a:pPr>
            <a:r>
              <a:rPr lang="ar-SA" alt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shamal-ai.vercel.app</a:t>
            </a:r>
            <a:endParaRPr lang="ar-SA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l" indent="0" marL="0">
              <a:buNone/>
            </a:pPr>
            <a:r>
              <a:rPr lang="ar-SA" altLang="en-US" sz="1000" dirty="0">
                <a:solidFill>
                  <a:srgbClr val="6B7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shamal-ai.vercel.app</a:t>
            </a:r>
            <a:endParaRPr lang="ar-SA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7068312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000" dirty="0">
                <a:solidFill>
                  <a:srgbClr val="6B7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شمال AI · ENBTHON 2026 · 9</a:t>
            </a:r>
            <a:endParaRPr lang="ar-SA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2026-09-12T17:50:13Z</dcterms:created>
  <dcterms:modified xsi:type="dcterms:W3CDTF">2026-09-12T17:50:13Z</dcterms:modified>
</cp:coreProperties>
</file>